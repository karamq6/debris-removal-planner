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tillium Web Bold" charset="1" panose="00000800000000000000"/>
      <p:regular r:id="rId17"/>
    </p:embeddedFont>
    <p:embeddedFont>
      <p:font typeface="Open Sauce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Montserrat Bold" charset="1" panose="00000800000000000000"/>
      <p:regular r:id="rId20"/>
    </p:embeddedFont>
    <p:embeddedFont>
      <p:font typeface="Open Sauce Heavy" charset="1" panose="00000A00000000000000"/>
      <p:regular r:id="rId21"/>
    </p:embeddedFont>
    <p:embeddedFont>
      <p:font typeface="Poppins Ultra-Bold" charset="1" panose="000009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431877" y="0"/>
            <a:ext cx="22719877" cy="15137118"/>
          </a:xfrm>
          <a:custGeom>
            <a:avLst/>
            <a:gdLst/>
            <a:ahLst/>
            <a:cxnLst/>
            <a:rect r="r" b="b" t="t" l="l"/>
            <a:pathLst>
              <a:path h="15137118" w="22719877">
                <a:moveTo>
                  <a:pt x="0" y="0"/>
                </a:moveTo>
                <a:lnTo>
                  <a:pt x="22719877" y="0"/>
                </a:lnTo>
                <a:lnTo>
                  <a:pt x="22719877" y="15137118"/>
                </a:lnTo>
                <a:lnTo>
                  <a:pt x="0" y="151371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1529060"/>
          </a:xfrm>
          <a:custGeom>
            <a:avLst/>
            <a:gdLst/>
            <a:ahLst/>
            <a:cxnLst/>
            <a:rect r="r" b="b" t="t" l="l"/>
            <a:pathLst>
              <a:path h="11529060" w="18288000">
                <a:moveTo>
                  <a:pt x="0" y="0"/>
                </a:moveTo>
                <a:lnTo>
                  <a:pt x="18288000" y="0"/>
                </a:lnTo>
                <a:lnTo>
                  <a:pt x="18288000" y="11529060"/>
                </a:lnTo>
                <a:lnTo>
                  <a:pt x="0" y="115290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02687" y="8564542"/>
            <a:ext cx="7482626" cy="1579652"/>
            <a:chOff x="0" y="0"/>
            <a:chExt cx="9976834" cy="210620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484706"/>
              <a:ext cx="9976834" cy="1411435"/>
              <a:chOff x="0" y="0"/>
              <a:chExt cx="1970733" cy="27880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70733" cy="278802"/>
              </a:xfrm>
              <a:custGeom>
                <a:avLst/>
                <a:gdLst/>
                <a:ahLst/>
                <a:cxnLst/>
                <a:rect r="r" b="b" t="t" l="l"/>
                <a:pathLst>
                  <a:path h="278802" w="1970733">
                    <a:moveTo>
                      <a:pt x="17589" y="0"/>
                    </a:moveTo>
                    <a:lnTo>
                      <a:pt x="1953144" y="0"/>
                    </a:lnTo>
                    <a:cubicBezTo>
                      <a:pt x="1957808" y="0"/>
                      <a:pt x="1962282" y="1853"/>
                      <a:pt x="1965581" y="5152"/>
                    </a:cubicBezTo>
                    <a:cubicBezTo>
                      <a:pt x="1968879" y="8450"/>
                      <a:pt x="1970733" y="12924"/>
                      <a:pt x="1970733" y="17589"/>
                    </a:cubicBezTo>
                    <a:lnTo>
                      <a:pt x="1970733" y="261213"/>
                    </a:lnTo>
                    <a:cubicBezTo>
                      <a:pt x="1970733" y="265878"/>
                      <a:pt x="1968879" y="270352"/>
                      <a:pt x="1965581" y="273650"/>
                    </a:cubicBezTo>
                    <a:cubicBezTo>
                      <a:pt x="1962282" y="276949"/>
                      <a:pt x="1957808" y="278802"/>
                      <a:pt x="1953144" y="278802"/>
                    </a:cubicBezTo>
                    <a:lnTo>
                      <a:pt x="17589" y="278802"/>
                    </a:lnTo>
                    <a:cubicBezTo>
                      <a:pt x="12924" y="278802"/>
                      <a:pt x="8450" y="276949"/>
                      <a:pt x="5152" y="273650"/>
                    </a:cubicBezTo>
                    <a:cubicBezTo>
                      <a:pt x="1853" y="270352"/>
                      <a:pt x="0" y="265878"/>
                      <a:pt x="0" y="261213"/>
                    </a:cubicBezTo>
                    <a:lnTo>
                      <a:pt x="0" y="17589"/>
                    </a:lnTo>
                    <a:cubicBezTo>
                      <a:pt x="0" y="12924"/>
                      <a:pt x="1853" y="8450"/>
                      <a:pt x="5152" y="5152"/>
                    </a:cubicBezTo>
                    <a:cubicBezTo>
                      <a:pt x="8450" y="1853"/>
                      <a:pt x="12924" y="0"/>
                      <a:pt x="17589" y="0"/>
                    </a:cubicBezTo>
                    <a:close/>
                  </a:path>
                </a:pathLst>
              </a:custGeom>
              <a:solidFill>
                <a:srgbClr val="0D5F5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970733" cy="2311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4478533" y="613750"/>
              <a:ext cx="4775639" cy="999769"/>
            </a:xfrm>
            <a:custGeom>
              <a:avLst/>
              <a:gdLst/>
              <a:ahLst/>
              <a:cxnLst/>
              <a:rect r="r" b="b" t="t" l="l"/>
              <a:pathLst>
                <a:path h="999769" w="4775639">
                  <a:moveTo>
                    <a:pt x="0" y="0"/>
                  </a:moveTo>
                  <a:lnTo>
                    <a:pt x="4775639" y="0"/>
                  </a:lnTo>
                  <a:lnTo>
                    <a:pt x="4775639" y="999770"/>
                  </a:lnTo>
                  <a:lnTo>
                    <a:pt x="0" y="999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537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628935" y="508727"/>
              <a:ext cx="1683984" cy="1209815"/>
            </a:xfrm>
            <a:custGeom>
              <a:avLst/>
              <a:gdLst/>
              <a:ahLst/>
              <a:cxnLst/>
              <a:rect r="r" b="b" t="t" l="l"/>
              <a:pathLst>
                <a:path h="1209815" w="1683984">
                  <a:moveTo>
                    <a:pt x="0" y="0"/>
                  </a:moveTo>
                  <a:lnTo>
                    <a:pt x="1683984" y="0"/>
                  </a:lnTo>
                  <a:lnTo>
                    <a:pt x="1683984" y="1209815"/>
                  </a:lnTo>
                  <a:lnTo>
                    <a:pt x="0" y="1209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9861" t="-90941" r="-55948" b="-95532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27416" y="0"/>
              <a:ext cx="2106203" cy="2106203"/>
            </a:xfrm>
            <a:custGeom>
              <a:avLst/>
              <a:gdLst/>
              <a:ahLst/>
              <a:cxnLst/>
              <a:rect r="r" b="b" t="t" l="l"/>
              <a:pathLst>
                <a:path h="2106203" w="2106203">
                  <a:moveTo>
                    <a:pt x="0" y="0"/>
                  </a:moveTo>
                  <a:lnTo>
                    <a:pt x="2106203" y="0"/>
                  </a:lnTo>
                  <a:lnTo>
                    <a:pt x="2106203" y="2106203"/>
                  </a:lnTo>
                  <a:lnTo>
                    <a:pt x="0" y="2106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968225" y="2055923"/>
            <a:ext cx="10351551" cy="204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3"/>
              </a:lnSpc>
              <a:spcBef>
                <a:spcPct val="0"/>
              </a:spcBef>
            </a:pPr>
            <a:r>
              <a:rPr lang="en-US" b="true" sz="11902">
                <a:solidFill>
                  <a:srgbClr val="6EE2CE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TA5ABES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54471" y="4039596"/>
            <a:ext cx="1212600" cy="60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  <a:spcBef>
                <a:spcPct val="0"/>
              </a:spcBef>
            </a:pPr>
            <a:r>
              <a:rPr lang="en-US" sz="3631" spc="-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76819" y="5707380"/>
            <a:ext cx="3595291" cy="55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7"/>
              </a:lnSpc>
            </a:pPr>
            <a:r>
              <a:rPr lang="en-US" b="true" sz="327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NAME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15109" y="7128682"/>
            <a:ext cx="1976140" cy="55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7"/>
              </a:lnSpc>
            </a:pPr>
            <a:r>
              <a:rPr lang="en-US" b="true" sz="327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SB LOGO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Intelligent Orbital Debris Removal Planner</a:t>
            </a:r>
          </a:p>
          <a:p>
            <a:pPr>
              <a:defRPr sz="2800" b="1"/>
            </a:pPr>
            <a:r>
              <a:t>Team ta5abes - Track 4: Sustainable Space Systems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56288" y="2096431"/>
            <a:ext cx="9694648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ProbeLem Statement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04028" y="3848292"/>
            <a:ext cx="13798301" cy="4336675"/>
            <a:chOff x="0" y="0"/>
            <a:chExt cx="18397734" cy="578223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8397734" cy="5782233"/>
              <a:chOff x="0" y="0"/>
              <a:chExt cx="1651617" cy="5190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51617" cy="519088"/>
              </a:xfrm>
              <a:custGeom>
                <a:avLst/>
                <a:gdLst/>
                <a:ahLst/>
                <a:cxnLst/>
                <a:rect r="r" b="b" t="t" l="l"/>
                <a:pathLst>
                  <a:path h="519088" w="1651617">
                    <a:moveTo>
                      <a:pt x="69702" y="0"/>
                    </a:moveTo>
                    <a:lnTo>
                      <a:pt x="1581915" y="0"/>
                    </a:lnTo>
                    <a:cubicBezTo>
                      <a:pt x="1600401" y="0"/>
                      <a:pt x="1618130" y="7344"/>
                      <a:pt x="1631202" y="20415"/>
                    </a:cubicBezTo>
                    <a:cubicBezTo>
                      <a:pt x="1644273" y="33487"/>
                      <a:pt x="1651617" y="51216"/>
                      <a:pt x="1651617" y="69702"/>
                    </a:cubicBezTo>
                    <a:lnTo>
                      <a:pt x="1651617" y="449386"/>
                    </a:lnTo>
                    <a:cubicBezTo>
                      <a:pt x="1651617" y="467872"/>
                      <a:pt x="1644273" y="485601"/>
                      <a:pt x="1631202" y="498672"/>
                    </a:cubicBezTo>
                    <a:cubicBezTo>
                      <a:pt x="1618130" y="511744"/>
                      <a:pt x="1600401" y="519088"/>
                      <a:pt x="1581915" y="519088"/>
                    </a:cubicBezTo>
                    <a:lnTo>
                      <a:pt x="69702" y="519088"/>
                    </a:lnTo>
                    <a:cubicBezTo>
                      <a:pt x="51216" y="519088"/>
                      <a:pt x="33487" y="511744"/>
                      <a:pt x="20415" y="498672"/>
                    </a:cubicBezTo>
                    <a:cubicBezTo>
                      <a:pt x="7344" y="485601"/>
                      <a:pt x="0" y="467872"/>
                      <a:pt x="0" y="449386"/>
                    </a:cubicBezTo>
                    <a:lnTo>
                      <a:pt x="0" y="69702"/>
                    </a:lnTo>
                    <a:cubicBezTo>
                      <a:pt x="0" y="51216"/>
                      <a:pt x="7344" y="33487"/>
                      <a:pt x="20415" y="20415"/>
                    </a:cubicBezTo>
                    <a:cubicBezTo>
                      <a:pt x="33487" y="7344"/>
                      <a:pt x="51216" y="0"/>
                      <a:pt x="697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651617" cy="471463"/>
              </a:xfrm>
              <a:prstGeom prst="rect">
                <a:avLst/>
              </a:prstGeom>
            </p:spPr>
            <p:txBody>
              <a:bodyPr anchor="ctr" rtlCol="false" tIns="55133" lIns="55133" bIns="55133" rIns="55133"/>
              <a:lstStyle/>
              <a:p>
                <a:pPr algn="ctr">
                  <a:lnSpc>
                    <a:spcPts val="1133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807478" y="780446"/>
              <a:ext cx="14782779" cy="4021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29706" indent="-364853" lvl="1">
                <a:lnSpc>
                  <a:spcPts val="6185"/>
                </a:lnSpc>
                <a:buFont typeface="Arial"/>
                <a:buChar char="•"/>
              </a:pPr>
              <a:r>
                <a:rPr lang="en-US" b="true" sz="3379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What is the problem?</a:t>
              </a:r>
            </a:p>
            <a:p>
              <a:pPr algn="l" marL="729706" indent="-364853" lvl="1">
                <a:lnSpc>
                  <a:spcPts val="6185"/>
                </a:lnSpc>
                <a:buFont typeface="Arial"/>
                <a:buChar char="•"/>
              </a:pPr>
              <a:r>
                <a:rPr lang="en-US" b="true" sz="3379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Who is affected?</a:t>
              </a:r>
            </a:p>
            <a:p>
              <a:pPr algn="l" marL="729706" indent="-364853" lvl="1">
                <a:lnSpc>
                  <a:spcPts val="6185"/>
                </a:lnSpc>
                <a:buFont typeface="Arial"/>
                <a:buChar char="•"/>
              </a:pPr>
              <a:r>
                <a:rPr lang="en-US" b="true" sz="3379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Why does it matter now?</a:t>
              </a:r>
            </a:p>
            <a:p>
              <a:pPr algn="l" marL="729706" indent="-364853" lvl="1">
                <a:lnSpc>
                  <a:spcPts val="6185"/>
                </a:lnSpc>
                <a:buFont typeface="Arial"/>
                <a:buChar char="•"/>
              </a:pPr>
              <a:r>
                <a:rPr lang="en-US" b="true" sz="3379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Include real-world context or statistics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625644" y="3507711"/>
            <a:ext cx="15989971" cy="9354511"/>
          </a:xfrm>
          <a:custGeom>
            <a:avLst/>
            <a:gdLst/>
            <a:ahLst/>
            <a:cxnLst/>
            <a:rect r="r" b="b" t="t" l="l"/>
            <a:pathLst>
              <a:path h="9354511" w="15989971">
                <a:moveTo>
                  <a:pt x="0" y="0"/>
                </a:moveTo>
                <a:lnTo>
                  <a:pt x="15989971" y="0"/>
                </a:lnTo>
                <a:lnTo>
                  <a:pt x="15989971" y="9354511"/>
                </a:lnTo>
                <a:lnTo>
                  <a:pt x="0" y="9354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942" r="0" b="-694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537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861" t="-90941" r="-55948" b="-9553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15201" y="4054618"/>
            <a:ext cx="14457597" cy="3176212"/>
            <a:chOff x="0" y="0"/>
            <a:chExt cx="19276796" cy="423494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9276796" cy="4234949"/>
              <a:chOff x="0" y="0"/>
              <a:chExt cx="1834642" cy="40297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834642" cy="402971"/>
              </a:xfrm>
              <a:custGeom>
                <a:avLst/>
                <a:gdLst/>
                <a:ahLst/>
                <a:cxnLst/>
                <a:rect r="r" b="b" t="t" l="l"/>
                <a:pathLst>
                  <a:path h="402971" w="1834642">
                    <a:moveTo>
                      <a:pt x="1834642" y="73845"/>
                    </a:moveTo>
                    <a:lnTo>
                      <a:pt x="1834642" y="329126"/>
                    </a:lnTo>
                    <a:cubicBezTo>
                      <a:pt x="1834642" y="348711"/>
                      <a:pt x="1826862" y="367494"/>
                      <a:pt x="1813013" y="381342"/>
                    </a:cubicBezTo>
                    <a:cubicBezTo>
                      <a:pt x="1799165" y="395191"/>
                      <a:pt x="1780382" y="402971"/>
                      <a:pt x="1760797" y="402971"/>
                    </a:cubicBezTo>
                    <a:lnTo>
                      <a:pt x="73845" y="402971"/>
                    </a:lnTo>
                    <a:cubicBezTo>
                      <a:pt x="54260" y="402971"/>
                      <a:pt x="35477" y="395191"/>
                      <a:pt x="21629" y="381342"/>
                    </a:cubicBezTo>
                    <a:cubicBezTo>
                      <a:pt x="7780" y="367494"/>
                      <a:pt x="0" y="348711"/>
                      <a:pt x="0" y="329126"/>
                    </a:cubicBezTo>
                    <a:lnTo>
                      <a:pt x="0" y="73845"/>
                    </a:lnTo>
                    <a:cubicBezTo>
                      <a:pt x="0" y="54260"/>
                      <a:pt x="7780" y="35477"/>
                      <a:pt x="21629" y="21629"/>
                    </a:cubicBezTo>
                    <a:cubicBezTo>
                      <a:pt x="35477" y="7780"/>
                      <a:pt x="54260" y="0"/>
                      <a:pt x="73845" y="0"/>
                    </a:cubicBezTo>
                    <a:lnTo>
                      <a:pt x="1760797" y="0"/>
                    </a:lnTo>
                    <a:cubicBezTo>
                      <a:pt x="1780382" y="0"/>
                      <a:pt x="1799165" y="7780"/>
                      <a:pt x="1813013" y="21629"/>
                    </a:cubicBezTo>
                    <a:cubicBezTo>
                      <a:pt x="1826862" y="35477"/>
                      <a:pt x="1834642" y="54260"/>
                      <a:pt x="1834642" y="738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47625"/>
                <a:ext cx="1834642" cy="3553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893841" y="844187"/>
              <a:ext cx="15489114" cy="2562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2750" indent="-396375" lvl="1">
                <a:lnSpc>
                  <a:spcPts val="51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671" spc="-73">
                  <a:solidFill>
                    <a:srgbClr val="0E9C79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Descr</a:t>
              </a:r>
              <a:r>
                <a:rPr lang="en-US" b="true" sz="3671" spc="-73">
                  <a:solidFill>
                    <a:srgbClr val="0E9C79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ibe your solution clearly</a:t>
              </a:r>
            </a:p>
            <a:p>
              <a:pPr algn="l" marL="792750" indent="-396375" lvl="1">
                <a:lnSpc>
                  <a:spcPts val="51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671" spc="-73">
                  <a:solidFill>
                    <a:srgbClr val="0E9C79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How it works in simple terms</a:t>
              </a:r>
            </a:p>
            <a:p>
              <a:pPr algn="l" marL="792750" indent="-396375" lvl="1">
                <a:lnSpc>
                  <a:spcPts val="51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671" spc="-73">
                  <a:solidFill>
                    <a:srgbClr val="0E9C79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What makes it different 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723642" y="6947460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0398" y="1872227"/>
            <a:ext cx="8247205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Proposed Solution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6079" y="2795412"/>
            <a:ext cx="1975842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-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Core idea</a:t>
            </a:r>
            <a:r>
              <a:rPr lang="en-US" sz="3299" spc="-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537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861" t="-90941" r="-55948" b="-9553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44176"/>
            <a:ext cx="16680414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System Architecture &amp; Technical Design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08468" y="3788028"/>
            <a:ext cx="12871064" cy="5566340"/>
            <a:chOff x="0" y="0"/>
            <a:chExt cx="17161418" cy="74217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161418" cy="7421787"/>
              <a:chOff x="0" y="0"/>
              <a:chExt cx="1801544" cy="77911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801544" cy="779112"/>
              </a:xfrm>
              <a:custGeom>
                <a:avLst/>
                <a:gdLst/>
                <a:ahLst/>
                <a:cxnLst/>
                <a:rect r="r" b="b" t="t" l="l"/>
                <a:pathLst>
                  <a:path h="779112" w="1801544">
                    <a:moveTo>
                      <a:pt x="46791" y="0"/>
                    </a:moveTo>
                    <a:lnTo>
                      <a:pt x="1754752" y="0"/>
                    </a:lnTo>
                    <a:cubicBezTo>
                      <a:pt x="1767162" y="0"/>
                      <a:pt x="1779064" y="4930"/>
                      <a:pt x="1787839" y="13705"/>
                    </a:cubicBezTo>
                    <a:cubicBezTo>
                      <a:pt x="1796614" y="22480"/>
                      <a:pt x="1801544" y="34381"/>
                      <a:pt x="1801544" y="46791"/>
                    </a:cubicBezTo>
                    <a:lnTo>
                      <a:pt x="1801544" y="732321"/>
                    </a:lnTo>
                    <a:cubicBezTo>
                      <a:pt x="1801544" y="758163"/>
                      <a:pt x="1780595" y="779112"/>
                      <a:pt x="1754752" y="779112"/>
                    </a:cubicBezTo>
                    <a:lnTo>
                      <a:pt x="46791" y="779112"/>
                    </a:lnTo>
                    <a:cubicBezTo>
                      <a:pt x="34381" y="779112"/>
                      <a:pt x="22480" y="774183"/>
                      <a:pt x="13705" y="765407"/>
                    </a:cubicBezTo>
                    <a:cubicBezTo>
                      <a:pt x="4930" y="756632"/>
                      <a:pt x="0" y="744731"/>
                      <a:pt x="0" y="732321"/>
                    </a:cubicBezTo>
                    <a:lnTo>
                      <a:pt x="0" y="46791"/>
                    </a:lnTo>
                    <a:cubicBezTo>
                      <a:pt x="0" y="20949"/>
                      <a:pt x="20949" y="0"/>
                      <a:pt x="467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801544" cy="731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451248" y="436145"/>
              <a:ext cx="14530027" cy="6511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8"/>
                </a:lnSpc>
              </a:pPr>
            </a:p>
            <a:p>
              <a:pPr algn="l">
                <a:lnSpc>
                  <a:spcPts val="3968"/>
                </a:lnSpc>
              </a:pPr>
              <a:r>
                <a:rPr lang="en-US" sz="2834" b="true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Include:</a:t>
              </a:r>
            </a:p>
            <a:p>
              <a:pPr algn="l" marL="611936" indent="-305968" lvl="1">
                <a:lnSpc>
                  <a:spcPts val="3968"/>
                </a:lnSpc>
                <a:buFont typeface="Arial"/>
                <a:buChar char="•"/>
              </a:pP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System d</a:t>
              </a: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iagram (VERY recommended)</a:t>
              </a:r>
            </a:p>
            <a:p>
              <a:pPr algn="l" marL="611936" indent="-305968" lvl="1">
                <a:lnSpc>
                  <a:spcPts val="3968"/>
                </a:lnSpc>
                <a:buFont typeface="Arial"/>
                <a:buChar char="•"/>
              </a:pP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Components (hardware + software if applicable)</a:t>
              </a:r>
            </a:p>
            <a:p>
              <a:pPr algn="l" marL="611936" indent="-305968" lvl="1">
                <a:lnSpc>
                  <a:spcPts val="3968"/>
                </a:lnSpc>
                <a:buFont typeface="Arial"/>
                <a:buChar char="•"/>
              </a:pP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Data flow explanation</a:t>
              </a:r>
            </a:p>
            <a:p>
              <a:pPr algn="l">
                <a:lnSpc>
                  <a:spcPts val="3968"/>
                </a:lnSpc>
              </a:pPr>
              <a:r>
                <a:rPr lang="en-US" sz="2834" b="true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Example structure:</a:t>
              </a:r>
            </a:p>
            <a:p>
              <a:pPr algn="l" marL="611936" indent="-305968" lvl="1">
                <a:lnSpc>
                  <a:spcPts val="3968"/>
                </a:lnSpc>
                <a:buFont typeface="Arial"/>
                <a:buChar char="•"/>
              </a:pP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Sensors / Inputs</a:t>
              </a:r>
            </a:p>
            <a:p>
              <a:pPr algn="l" marL="611936" indent="-305968" lvl="1">
                <a:lnSpc>
                  <a:spcPts val="3968"/>
                </a:lnSpc>
                <a:buFont typeface="Arial"/>
                <a:buChar char="•"/>
              </a:pP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Processing unit (AI model, microcontroller, etc.)</a:t>
              </a:r>
            </a:p>
            <a:p>
              <a:pPr algn="l" marL="611936" indent="-305968" lvl="1">
                <a:lnSpc>
                  <a:spcPts val="3968"/>
                </a:lnSpc>
                <a:buFont typeface="Arial"/>
                <a:buChar char="•"/>
              </a:pP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</a:t>
              </a: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ackend / Cloud</a:t>
              </a:r>
            </a:p>
            <a:p>
              <a:pPr algn="l" marL="611936" indent="-305968" lvl="1">
                <a:lnSpc>
                  <a:spcPts val="3968"/>
                </a:lnSpc>
                <a:buFont typeface="Arial"/>
                <a:buChar char="•"/>
              </a:pPr>
              <a:r>
                <a:rPr lang="en-US" b="true" sz="2834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Output / User interface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51248" y="765082"/>
              <a:ext cx="14530027" cy="762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7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61" t="-90941" r="-55948" b="-9553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474099" y="7374298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4947191" y="1339850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8743570" y="0"/>
                </a:moveTo>
                <a:lnTo>
                  <a:pt x="0" y="0"/>
                </a:lnTo>
                <a:lnTo>
                  <a:pt x="0" y="5825403"/>
                </a:lnTo>
                <a:lnTo>
                  <a:pt x="8743570" y="5825403"/>
                </a:lnTo>
                <a:lnTo>
                  <a:pt x="874357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60168" y="2324063"/>
            <a:ext cx="11367663" cy="105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79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Technical Implementation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86366" y="4136211"/>
            <a:ext cx="12684551" cy="3444893"/>
            <a:chOff x="0" y="0"/>
            <a:chExt cx="16912734" cy="459319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912734" cy="4593191"/>
              <a:chOff x="0" y="0"/>
              <a:chExt cx="1926876" cy="52330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26876" cy="523304"/>
              </a:xfrm>
              <a:custGeom>
                <a:avLst/>
                <a:gdLst/>
                <a:ahLst/>
                <a:cxnLst/>
                <a:rect r="r" b="b" t="t" l="l"/>
                <a:pathLst>
                  <a:path h="523304" w="1926876">
                    <a:moveTo>
                      <a:pt x="51560" y="0"/>
                    </a:moveTo>
                    <a:lnTo>
                      <a:pt x="1875316" y="0"/>
                    </a:lnTo>
                    <a:cubicBezTo>
                      <a:pt x="1903791" y="0"/>
                      <a:pt x="1926876" y="23084"/>
                      <a:pt x="1926876" y="51560"/>
                    </a:cubicBezTo>
                    <a:lnTo>
                      <a:pt x="1926876" y="471744"/>
                    </a:lnTo>
                    <a:cubicBezTo>
                      <a:pt x="1926876" y="500220"/>
                      <a:pt x="1903791" y="523304"/>
                      <a:pt x="1875316" y="523304"/>
                    </a:cubicBezTo>
                    <a:lnTo>
                      <a:pt x="51560" y="523304"/>
                    </a:lnTo>
                    <a:cubicBezTo>
                      <a:pt x="23084" y="523304"/>
                      <a:pt x="0" y="500220"/>
                      <a:pt x="0" y="471744"/>
                    </a:cubicBezTo>
                    <a:lnTo>
                      <a:pt x="0" y="51560"/>
                    </a:lnTo>
                    <a:cubicBezTo>
                      <a:pt x="0" y="23084"/>
                      <a:pt x="23084" y="0"/>
                      <a:pt x="51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926876" cy="475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23593" y="799417"/>
              <a:ext cx="14906954" cy="37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1869" indent="-295935" lvl="1">
                <a:lnSpc>
                  <a:spcPts val="3837"/>
                </a:lnSpc>
                <a:buFont typeface="Arial"/>
                <a:buChar char="•"/>
              </a:pPr>
              <a:r>
                <a:rPr lang="en-US" b="true" sz="2741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Technologies used (AI, IoT, embe</a:t>
              </a:r>
              <a:r>
                <a:rPr lang="en-US" b="true" sz="2741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dded systems, apps, etc.)</a:t>
              </a:r>
            </a:p>
            <a:p>
              <a:pPr algn="l" marL="591869" indent="-295935" lvl="1">
                <a:lnSpc>
                  <a:spcPts val="3837"/>
                </a:lnSpc>
                <a:buFont typeface="Arial"/>
                <a:buChar char="•"/>
              </a:pPr>
              <a:r>
                <a:rPr lang="en-US" b="true" sz="2741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Algorithms or models used (if any)</a:t>
              </a:r>
            </a:p>
            <a:p>
              <a:pPr algn="l" marL="591869" indent="-295935" lvl="1">
                <a:lnSpc>
                  <a:spcPts val="3837"/>
                </a:lnSpc>
                <a:buFont typeface="Arial"/>
                <a:buChar char="•"/>
              </a:pPr>
              <a:r>
                <a:rPr lang="en-US" b="true" sz="2741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Hardware specs (if relevant)</a:t>
              </a:r>
            </a:p>
            <a:p>
              <a:pPr algn="l" marL="591869" indent="-295935" lvl="1">
                <a:lnSpc>
                  <a:spcPts val="3837"/>
                </a:lnSpc>
                <a:buFont typeface="Arial"/>
                <a:buChar char="•"/>
              </a:pPr>
              <a:r>
                <a:rPr lang="en-US" b="true" sz="2741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Communication protocols (MQTT,</a:t>
              </a:r>
              <a:r>
                <a:rPr lang="en-US" b="true" sz="2741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 HTTP, etc.)</a:t>
              </a:r>
            </a:p>
            <a:p>
              <a:pPr algn="l">
                <a:lnSpc>
                  <a:spcPts val="3837"/>
                </a:lnSpc>
              </a:pPr>
            </a:p>
            <a:p>
              <a:pPr algn="l">
                <a:lnSpc>
                  <a:spcPts val="383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7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61" t="-90941" r="-55948" b="-955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0" y="6906273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8743570" y="0"/>
                </a:moveTo>
                <a:lnTo>
                  <a:pt x="0" y="0"/>
                </a:lnTo>
                <a:lnTo>
                  <a:pt x="0" y="5825403"/>
                </a:lnTo>
                <a:lnTo>
                  <a:pt x="8743570" y="5825403"/>
                </a:lnTo>
                <a:lnTo>
                  <a:pt x="874357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11705" y="2284365"/>
            <a:ext cx="12958825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 Results / Prototype / Demo :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36712" y="4075866"/>
            <a:ext cx="15908812" cy="3203150"/>
            <a:chOff x="0" y="0"/>
            <a:chExt cx="21211749" cy="42708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1211749" cy="4270867"/>
              <a:chOff x="0" y="0"/>
              <a:chExt cx="2287655" cy="46060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7655" cy="460607"/>
              </a:xfrm>
              <a:custGeom>
                <a:avLst/>
                <a:gdLst/>
                <a:ahLst/>
                <a:cxnLst/>
                <a:rect r="r" b="b" t="t" l="l"/>
                <a:pathLst>
                  <a:path h="460607" w="2287655">
                    <a:moveTo>
                      <a:pt x="48035" y="0"/>
                    </a:moveTo>
                    <a:lnTo>
                      <a:pt x="2239620" y="0"/>
                    </a:lnTo>
                    <a:cubicBezTo>
                      <a:pt x="2252360" y="0"/>
                      <a:pt x="2264578" y="5061"/>
                      <a:pt x="2273586" y="14069"/>
                    </a:cubicBezTo>
                    <a:cubicBezTo>
                      <a:pt x="2282594" y="23077"/>
                      <a:pt x="2287655" y="35295"/>
                      <a:pt x="2287655" y="48035"/>
                    </a:cubicBezTo>
                    <a:lnTo>
                      <a:pt x="2287655" y="412572"/>
                    </a:lnTo>
                    <a:cubicBezTo>
                      <a:pt x="2287655" y="425311"/>
                      <a:pt x="2282594" y="437529"/>
                      <a:pt x="2273586" y="446538"/>
                    </a:cubicBezTo>
                    <a:cubicBezTo>
                      <a:pt x="2264578" y="455546"/>
                      <a:pt x="2252360" y="460607"/>
                      <a:pt x="2239620" y="460607"/>
                    </a:cubicBezTo>
                    <a:lnTo>
                      <a:pt x="48035" y="460607"/>
                    </a:lnTo>
                    <a:cubicBezTo>
                      <a:pt x="35295" y="460607"/>
                      <a:pt x="23077" y="455546"/>
                      <a:pt x="14069" y="446538"/>
                    </a:cubicBezTo>
                    <a:cubicBezTo>
                      <a:pt x="5061" y="437529"/>
                      <a:pt x="0" y="425311"/>
                      <a:pt x="0" y="412572"/>
                    </a:cubicBezTo>
                    <a:lnTo>
                      <a:pt x="0" y="48035"/>
                    </a:lnTo>
                    <a:cubicBezTo>
                      <a:pt x="0" y="35295"/>
                      <a:pt x="5061" y="23077"/>
                      <a:pt x="14069" y="14069"/>
                    </a:cubicBezTo>
                    <a:cubicBezTo>
                      <a:pt x="23077" y="5061"/>
                      <a:pt x="35295" y="0"/>
                      <a:pt x="480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2287655" cy="4129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691430" y="1035402"/>
              <a:ext cx="16510927" cy="2133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9288" indent="-334644" lvl="1">
                <a:lnSpc>
                  <a:spcPts val="4339"/>
                </a:lnSpc>
                <a:buFont typeface="Arial"/>
                <a:buChar char="•"/>
              </a:pPr>
              <a:r>
                <a:rPr lang="en-US" b="true" sz="3099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Screens</a:t>
              </a:r>
              <a:r>
                <a:rPr lang="en-US" b="true" sz="3099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hots / demo images / graphs</a:t>
              </a:r>
            </a:p>
            <a:p>
              <a:pPr algn="l" marL="669288" indent="-334644" lvl="1">
                <a:lnSpc>
                  <a:spcPts val="4339"/>
                </a:lnSpc>
                <a:buFont typeface="Arial"/>
                <a:buChar char="•"/>
              </a:pPr>
              <a:r>
                <a:rPr lang="en-US" b="true" sz="3099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Performance (accuracy, latency, etc. if available)</a:t>
              </a:r>
            </a:p>
            <a:p>
              <a:pPr algn="l" marL="669288" indent="-334644" lvl="1">
                <a:lnSpc>
                  <a:spcPts val="4339"/>
                </a:lnSpc>
                <a:buFont typeface="Arial"/>
                <a:buChar char="•"/>
              </a:pPr>
              <a:r>
                <a:rPr lang="en-US" b="true" sz="3099">
                  <a:solidFill>
                    <a:srgbClr val="0E9C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If no full prototype → show simulation or design progress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7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61" t="-90941" r="-55948" b="-955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56607" y="2324271"/>
            <a:ext cx="8059795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Impact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7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61" t="-90941" r="-55948" b="-9553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24487" y="1722885"/>
            <a:ext cx="6116094" cy="4159258"/>
          </a:xfrm>
          <a:custGeom>
            <a:avLst/>
            <a:gdLst/>
            <a:ahLst/>
            <a:cxnLst/>
            <a:rect r="r" b="b" t="t" l="l"/>
            <a:pathLst>
              <a:path h="4159258" w="6116094">
                <a:moveTo>
                  <a:pt x="0" y="0"/>
                </a:moveTo>
                <a:lnTo>
                  <a:pt x="6116094" y="0"/>
                </a:lnTo>
                <a:lnTo>
                  <a:pt x="6116094" y="4159258"/>
                </a:lnTo>
                <a:lnTo>
                  <a:pt x="0" y="4159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7870" r="-97505" b="-440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32529" y="5529398"/>
            <a:ext cx="5808052" cy="4159258"/>
          </a:xfrm>
          <a:custGeom>
            <a:avLst/>
            <a:gdLst/>
            <a:ahLst/>
            <a:cxnLst/>
            <a:rect r="r" b="b" t="t" l="l"/>
            <a:pathLst>
              <a:path h="4159258" w="5808052">
                <a:moveTo>
                  <a:pt x="0" y="0"/>
                </a:moveTo>
                <a:lnTo>
                  <a:pt x="5808052" y="0"/>
                </a:lnTo>
                <a:lnTo>
                  <a:pt x="5808052" y="4159258"/>
                </a:lnTo>
                <a:lnTo>
                  <a:pt x="0" y="4159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192" t="-69986" r="-3788" b="-41947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36951" y="5455225"/>
            <a:ext cx="9218989" cy="3208338"/>
            <a:chOff x="0" y="0"/>
            <a:chExt cx="12291986" cy="42777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291986" cy="4277783"/>
              <a:chOff x="0" y="0"/>
              <a:chExt cx="1651617" cy="57478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51617" cy="574786"/>
              </a:xfrm>
              <a:custGeom>
                <a:avLst/>
                <a:gdLst/>
                <a:ahLst/>
                <a:cxnLst/>
                <a:rect r="r" b="b" t="t" l="l"/>
                <a:pathLst>
                  <a:path h="574786" w="1651617">
                    <a:moveTo>
                      <a:pt x="38630" y="0"/>
                    </a:moveTo>
                    <a:lnTo>
                      <a:pt x="1612987" y="0"/>
                    </a:lnTo>
                    <a:cubicBezTo>
                      <a:pt x="1634322" y="0"/>
                      <a:pt x="1651617" y="17295"/>
                      <a:pt x="1651617" y="38630"/>
                    </a:cubicBezTo>
                    <a:lnTo>
                      <a:pt x="1651617" y="536156"/>
                    </a:lnTo>
                    <a:cubicBezTo>
                      <a:pt x="1651617" y="546401"/>
                      <a:pt x="1647547" y="556227"/>
                      <a:pt x="1640303" y="563471"/>
                    </a:cubicBezTo>
                    <a:cubicBezTo>
                      <a:pt x="1633058" y="570716"/>
                      <a:pt x="1623232" y="574786"/>
                      <a:pt x="1612987" y="574786"/>
                    </a:cubicBezTo>
                    <a:lnTo>
                      <a:pt x="38630" y="574786"/>
                    </a:lnTo>
                    <a:cubicBezTo>
                      <a:pt x="28385" y="574786"/>
                      <a:pt x="18559" y="570716"/>
                      <a:pt x="11314" y="563471"/>
                    </a:cubicBezTo>
                    <a:cubicBezTo>
                      <a:pt x="4070" y="556227"/>
                      <a:pt x="0" y="546401"/>
                      <a:pt x="0" y="536156"/>
                    </a:cubicBezTo>
                    <a:lnTo>
                      <a:pt x="0" y="38630"/>
                    </a:lnTo>
                    <a:cubicBezTo>
                      <a:pt x="0" y="28385"/>
                      <a:pt x="4070" y="18559"/>
                      <a:pt x="11314" y="11314"/>
                    </a:cubicBezTo>
                    <a:cubicBezTo>
                      <a:pt x="18559" y="4070"/>
                      <a:pt x="28385" y="0"/>
                      <a:pt x="38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651617" cy="527161"/>
              </a:xfrm>
              <a:prstGeom prst="rect">
                <a:avLst/>
              </a:prstGeom>
            </p:spPr>
            <p:txBody>
              <a:bodyPr anchor="ctr" rtlCol="false" tIns="55133" lIns="55133" bIns="55133" rIns="55133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07621" y="502677"/>
              <a:ext cx="9876743" cy="3120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3893" indent="-286946" lvl="1">
                <a:lnSpc>
                  <a:spcPts val="4864"/>
                </a:lnSpc>
                <a:buFont typeface="Arial"/>
                <a:buChar char="•"/>
              </a:pPr>
              <a:r>
                <a:rPr lang="en-US" b="true" sz="2658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Which UN SDG(s) are you targeting?</a:t>
              </a:r>
            </a:p>
            <a:p>
              <a:pPr algn="l" marL="573893" indent="-286946" lvl="1">
                <a:lnSpc>
                  <a:spcPts val="4864"/>
                </a:lnSpc>
                <a:buFont typeface="Arial"/>
                <a:buChar char="•"/>
              </a:pPr>
              <a:r>
                <a:rPr lang="en-US" b="true" sz="2658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Why this SDG?</a:t>
              </a:r>
            </a:p>
            <a:p>
              <a:pPr algn="l" marL="573893" indent="-286946" lvl="1">
                <a:lnSpc>
                  <a:spcPts val="4864"/>
                </a:lnSpc>
                <a:buFont typeface="Arial"/>
                <a:buChar char="•"/>
              </a:pPr>
              <a:r>
                <a:rPr lang="en-US" b="true" sz="2658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How your project contributes to it</a:t>
              </a:r>
            </a:p>
            <a:p>
              <a:pPr algn="l" marL="573893" indent="-286946" lvl="1">
                <a:lnSpc>
                  <a:spcPts val="4864"/>
                </a:lnSpc>
                <a:buFont typeface="Arial"/>
                <a:buChar char="•"/>
              </a:pPr>
              <a:r>
                <a:rPr lang="en-US" b="true" sz="2658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Include: SDG number + name + photo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40510" y="3096088"/>
            <a:ext cx="7467090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SDG Alignment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537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861" t="-90941" r="-55948" b="-9553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23766" y="2469703"/>
            <a:ext cx="12958825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Scalability &amp; Future Work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57821" y="4446542"/>
            <a:ext cx="12457365" cy="3233905"/>
            <a:chOff x="0" y="0"/>
            <a:chExt cx="16609820" cy="431187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609820" cy="4311873"/>
              <a:chOff x="0" y="0"/>
              <a:chExt cx="1791344" cy="46502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91344" cy="465029"/>
              </a:xfrm>
              <a:custGeom>
                <a:avLst/>
                <a:gdLst/>
                <a:ahLst/>
                <a:cxnLst/>
                <a:rect r="r" b="b" t="t" l="l"/>
                <a:pathLst>
                  <a:path h="465029" w="1791344">
                    <a:moveTo>
                      <a:pt x="57982" y="0"/>
                    </a:moveTo>
                    <a:lnTo>
                      <a:pt x="1733362" y="0"/>
                    </a:lnTo>
                    <a:cubicBezTo>
                      <a:pt x="1748740" y="0"/>
                      <a:pt x="1763488" y="6109"/>
                      <a:pt x="1774361" y="16982"/>
                    </a:cubicBezTo>
                    <a:cubicBezTo>
                      <a:pt x="1785235" y="27856"/>
                      <a:pt x="1791344" y="42604"/>
                      <a:pt x="1791344" y="57982"/>
                    </a:cubicBezTo>
                    <a:lnTo>
                      <a:pt x="1791344" y="407047"/>
                    </a:lnTo>
                    <a:cubicBezTo>
                      <a:pt x="1791344" y="422425"/>
                      <a:pt x="1785235" y="437173"/>
                      <a:pt x="1774361" y="448046"/>
                    </a:cubicBezTo>
                    <a:cubicBezTo>
                      <a:pt x="1763488" y="458920"/>
                      <a:pt x="1748740" y="465029"/>
                      <a:pt x="1733362" y="465029"/>
                    </a:cubicBezTo>
                    <a:lnTo>
                      <a:pt x="57982" y="465029"/>
                    </a:lnTo>
                    <a:cubicBezTo>
                      <a:pt x="42604" y="465029"/>
                      <a:pt x="27856" y="458920"/>
                      <a:pt x="16982" y="448046"/>
                    </a:cubicBezTo>
                    <a:cubicBezTo>
                      <a:pt x="6109" y="437173"/>
                      <a:pt x="0" y="422425"/>
                      <a:pt x="0" y="407047"/>
                    </a:cubicBezTo>
                    <a:lnTo>
                      <a:pt x="0" y="57982"/>
                    </a:lnTo>
                    <a:cubicBezTo>
                      <a:pt x="0" y="42604"/>
                      <a:pt x="6109" y="27856"/>
                      <a:pt x="16982" y="16982"/>
                    </a:cubicBezTo>
                    <a:cubicBezTo>
                      <a:pt x="27856" y="6109"/>
                      <a:pt x="42604" y="0"/>
                      <a:pt x="579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791344" cy="4174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57874" y="838197"/>
              <a:ext cx="15851946" cy="2898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04736" indent="-352368" lvl="1">
                <a:lnSpc>
                  <a:spcPts val="4569"/>
                </a:lnSpc>
                <a:buFont typeface="Arial"/>
                <a:buChar char="•"/>
              </a:pPr>
              <a:r>
                <a:rPr lang="en-US" b="true" sz="3264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How can this grow beyond the hackathon?</a:t>
              </a:r>
            </a:p>
            <a:p>
              <a:pPr algn="l" marL="704736" indent="-352368" lvl="1">
                <a:lnSpc>
                  <a:spcPts val="4569"/>
                </a:lnSpc>
                <a:buFont typeface="Arial"/>
                <a:buChar char="•"/>
              </a:pPr>
              <a:r>
                <a:rPr lang="en-US" b="true" sz="3264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Real-world deployment ideas</a:t>
              </a:r>
            </a:p>
            <a:p>
              <a:pPr algn="l" marL="704736" indent="-352368" lvl="1">
                <a:lnSpc>
                  <a:spcPts val="4569"/>
                </a:lnSpc>
                <a:buFont typeface="Arial"/>
                <a:buChar char="•"/>
              </a:pPr>
              <a:r>
                <a:rPr lang="en-US" b="true" sz="3264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Improvements you would add with more time</a:t>
              </a:r>
            </a:p>
            <a:p>
              <a:pPr algn="l">
                <a:lnSpc>
                  <a:spcPts val="386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7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61" t="-90941" r="-55948" b="-955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23642" y="6947460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23766" y="2469703"/>
            <a:ext cx="12958825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Challenges &amp; Limitations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57821" y="4446542"/>
            <a:ext cx="12457365" cy="2662405"/>
            <a:chOff x="0" y="0"/>
            <a:chExt cx="16609820" cy="354987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609820" cy="3549873"/>
              <a:chOff x="0" y="0"/>
              <a:chExt cx="1791344" cy="38284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91344" cy="382848"/>
              </a:xfrm>
              <a:custGeom>
                <a:avLst/>
                <a:gdLst/>
                <a:ahLst/>
                <a:cxnLst/>
                <a:rect r="r" b="b" t="t" l="l"/>
                <a:pathLst>
                  <a:path h="382848" w="1791344">
                    <a:moveTo>
                      <a:pt x="57982" y="0"/>
                    </a:moveTo>
                    <a:lnTo>
                      <a:pt x="1733362" y="0"/>
                    </a:lnTo>
                    <a:cubicBezTo>
                      <a:pt x="1748740" y="0"/>
                      <a:pt x="1763488" y="6109"/>
                      <a:pt x="1774361" y="16982"/>
                    </a:cubicBezTo>
                    <a:cubicBezTo>
                      <a:pt x="1785235" y="27856"/>
                      <a:pt x="1791344" y="42604"/>
                      <a:pt x="1791344" y="57982"/>
                    </a:cubicBezTo>
                    <a:lnTo>
                      <a:pt x="1791344" y="324867"/>
                    </a:lnTo>
                    <a:cubicBezTo>
                      <a:pt x="1791344" y="340244"/>
                      <a:pt x="1785235" y="354992"/>
                      <a:pt x="1774361" y="365866"/>
                    </a:cubicBezTo>
                    <a:cubicBezTo>
                      <a:pt x="1763488" y="376740"/>
                      <a:pt x="1748740" y="382848"/>
                      <a:pt x="1733362" y="382848"/>
                    </a:cubicBezTo>
                    <a:lnTo>
                      <a:pt x="57982" y="382848"/>
                    </a:lnTo>
                    <a:cubicBezTo>
                      <a:pt x="42604" y="382848"/>
                      <a:pt x="27856" y="376740"/>
                      <a:pt x="16982" y="365866"/>
                    </a:cubicBezTo>
                    <a:cubicBezTo>
                      <a:pt x="6109" y="354992"/>
                      <a:pt x="0" y="340244"/>
                      <a:pt x="0" y="324867"/>
                    </a:cubicBezTo>
                    <a:lnTo>
                      <a:pt x="0" y="57982"/>
                    </a:lnTo>
                    <a:cubicBezTo>
                      <a:pt x="0" y="42604"/>
                      <a:pt x="6109" y="27856"/>
                      <a:pt x="16982" y="16982"/>
                    </a:cubicBezTo>
                    <a:cubicBezTo>
                      <a:pt x="27856" y="6109"/>
                      <a:pt x="42604" y="0"/>
                      <a:pt x="579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791344" cy="335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57874" y="838197"/>
              <a:ext cx="15851946" cy="2136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04736" indent="-352368" lvl="1">
                <a:lnSpc>
                  <a:spcPts val="4569"/>
                </a:lnSpc>
                <a:buFont typeface="Arial"/>
                <a:buChar char="•"/>
              </a:pPr>
              <a:r>
                <a:rPr lang="en-US" b="true" sz="3264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What problems did you face?</a:t>
              </a:r>
            </a:p>
            <a:p>
              <a:pPr algn="l" marL="704736" indent="-352368" lvl="1">
                <a:lnSpc>
                  <a:spcPts val="4569"/>
                </a:lnSpc>
                <a:buFont typeface="Arial"/>
                <a:buChar char="•"/>
              </a:pPr>
              <a:r>
                <a:rPr lang="en-US" b="true" sz="3264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Wh</a:t>
              </a:r>
              <a:r>
                <a:rPr lang="en-US" b="true" sz="3264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at is currently not solved yet?</a:t>
              </a:r>
            </a:p>
            <a:p>
              <a:pPr algn="l">
                <a:lnSpc>
                  <a:spcPts val="386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7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61" t="-90941" r="-55948" b="-955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044121" y="2326828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A2A">
                <a:alpha val="100000"/>
              </a:srgbClr>
            </a:gs>
            <a:gs pos="100000">
              <a:srgbClr val="0059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50346" y="0"/>
            <a:ext cx="30938346" cy="10287000"/>
          </a:xfrm>
          <a:custGeom>
            <a:avLst/>
            <a:gdLst/>
            <a:ahLst/>
            <a:cxnLst/>
            <a:rect r="r" b="b" t="t" l="l"/>
            <a:pathLst>
              <a:path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0" r="0" b="0"/>
            </a:stretch>
          </a:blipFill>
        </p:spPr>
        <p:txBody>
          <a:bodyPr/>
          <a:p>
            <a:r>
              <a:t>Intelligent Orbital Debris Removal Planner</a:t>
            </a:r>
          </a:p>
          <a:p>
            <a:r>
              <a:t>Autonomous Fuel-Optimal Debris Collection with RAG Advisory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23766" y="2469703"/>
            <a:ext cx="12958825" cy="9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7470" b="true">
                <a:solidFill>
                  <a:srgbClr val="70E6D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97983"/>
            <a:ext cx="1794252" cy="596589"/>
          </a:xfrm>
          <a:custGeom>
            <a:avLst/>
            <a:gdLst/>
            <a:ahLst/>
            <a:cxnLst/>
            <a:rect r="r" b="b" t="t" l="l"/>
            <a:pathLst>
              <a:path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82534" y="698500"/>
            <a:ext cx="297676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IEEE AESS Sustainabilty</a:t>
            </a:r>
          </a:p>
          <a:p>
            <a:pPr algn="r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57821" y="4446542"/>
            <a:ext cx="12457365" cy="1648310"/>
            <a:chOff x="0" y="0"/>
            <a:chExt cx="16609820" cy="219774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609820" cy="2197747"/>
              <a:chOff x="0" y="0"/>
              <a:chExt cx="1791344" cy="23702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91344" cy="237024"/>
              </a:xfrm>
              <a:custGeom>
                <a:avLst/>
                <a:gdLst/>
                <a:ahLst/>
                <a:cxnLst/>
                <a:rect r="r" b="b" t="t" l="l"/>
                <a:pathLst>
                  <a:path h="237024" w="1791344">
                    <a:moveTo>
                      <a:pt x="57982" y="0"/>
                    </a:moveTo>
                    <a:lnTo>
                      <a:pt x="1733362" y="0"/>
                    </a:lnTo>
                    <a:cubicBezTo>
                      <a:pt x="1748740" y="0"/>
                      <a:pt x="1763488" y="6109"/>
                      <a:pt x="1774361" y="16982"/>
                    </a:cubicBezTo>
                    <a:cubicBezTo>
                      <a:pt x="1785235" y="27856"/>
                      <a:pt x="1791344" y="42604"/>
                      <a:pt x="1791344" y="57982"/>
                    </a:cubicBezTo>
                    <a:lnTo>
                      <a:pt x="1791344" y="179042"/>
                    </a:lnTo>
                    <a:cubicBezTo>
                      <a:pt x="1791344" y="194420"/>
                      <a:pt x="1785235" y="209167"/>
                      <a:pt x="1774361" y="220041"/>
                    </a:cubicBezTo>
                    <a:cubicBezTo>
                      <a:pt x="1763488" y="230915"/>
                      <a:pt x="1748740" y="237024"/>
                      <a:pt x="1733362" y="237024"/>
                    </a:cubicBezTo>
                    <a:lnTo>
                      <a:pt x="57982" y="237024"/>
                    </a:lnTo>
                    <a:cubicBezTo>
                      <a:pt x="42604" y="237024"/>
                      <a:pt x="27856" y="230915"/>
                      <a:pt x="16982" y="220041"/>
                    </a:cubicBezTo>
                    <a:cubicBezTo>
                      <a:pt x="6109" y="209167"/>
                      <a:pt x="0" y="194420"/>
                      <a:pt x="0" y="179042"/>
                    </a:cubicBezTo>
                    <a:lnTo>
                      <a:pt x="0" y="57982"/>
                    </a:lnTo>
                    <a:cubicBezTo>
                      <a:pt x="0" y="42604"/>
                      <a:pt x="6109" y="27856"/>
                      <a:pt x="16982" y="16982"/>
                    </a:cubicBezTo>
                    <a:cubicBezTo>
                      <a:pt x="27856" y="6109"/>
                      <a:pt x="42604" y="0"/>
                      <a:pt x="579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E9C7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47625"/>
                <a:ext cx="1791344" cy="189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57874" y="673452"/>
              <a:ext cx="15851946" cy="784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89"/>
                </a:lnSpc>
              </a:pPr>
              <a:r>
                <a:rPr lang="en-US" sz="3564" b="true">
                  <a:solidFill>
                    <a:srgbClr val="0E9C79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1–2 sentence summary of your solution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520766" y="460313"/>
            <a:ext cx="3581729" cy="749827"/>
          </a:xfrm>
          <a:custGeom>
            <a:avLst/>
            <a:gdLst/>
            <a:ahLst/>
            <a:cxnLst/>
            <a:rect r="r" b="b" t="t" l="l"/>
            <a:pathLst>
              <a:path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7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3567" y="381546"/>
            <a:ext cx="1262988" cy="907361"/>
          </a:xfrm>
          <a:custGeom>
            <a:avLst/>
            <a:gdLst/>
            <a:ahLst/>
            <a:cxnLst/>
            <a:rect r="r" b="b" t="t" l="l"/>
            <a:pathLst>
              <a:path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61" t="-90941" r="-55948" b="-955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32428" y="0"/>
            <a:ext cx="1579652" cy="1579652"/>
          </a:xfrm>
          <a:custGeom>
            <a:avLst/>
            <a:gdLst/>
            <a:ahLst/>
            <a:cxnLst/>
            <a:rect r="r" b="b" t="t" l="l"/>
            <a:pathLst>
              <a:path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DAHJGnGjn44</dc:identifier>
  <dcterms:modified xsi:type="dcterms:W3CDTF">2011-08-01T06:04:30Z</dcterms:modified>
  <cp:revision>1</cp:revision>
  <dc:title>Template presentation</dc:title>
</cp:coreProperties>
</file>