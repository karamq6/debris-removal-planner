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Titillium Web Bold" charset="1" panose="00000800000000000000"/>
      <p:regular r:id="rId17"/>
    </p:embeddedFont>
    <p:embeddedFont>
      <p:font typeface="Open Sauce Bold" charset="1" panose="00000800000000000000"/>
      <p:regular r:id="rId18"/>
    </p:embeddedFont>
    <p:embeddedFont>
      <p:font typeface="Montserrat" charset="1" panose="00000500000000000000"/>
      <p:regular r:id="rId19"/>
    </p:embeddedFont>
    <p:embeddedFont>
      <p:font typeface="Montserrat Bold" charset="1" panose="00000800000000000000"/>
      <p:regular r:id="rId20"/>
    </p:embeddedFont>
    <p:embeddedFont>
      <p:font typeface="Open Sauce Heavy" charset="1" panose="00000A00000000000000"/>
      <p:regular r:id="rId21"/>
    </p:embeddedFont>
    <p:embeddedFont>
      <p:font typeface="Poppins Ultra-Bold" charset="1" panose="0000090000000000000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font" Target="fonts/font22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jpe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650346" y="0"/>
            <a:ext cx="30938346" cy="10287000"/>
          </a:xfrm>
          <a:custGeom>
            <a:avLst/>
            <a:gdLst/>
            <a:ahLst/>
            <a:cxnLst/>
            <a:rect r="r" b="b" t="t" l="l"/>
            <a:pathLst>
              <a:path h="10287000" w="30938346">
                <a:moveTo>
                  <a:pt x="0" y="0"/>
                </a:moveTo>
                <a:lnTo>
                  <a:pt x="30938346" y="0"/>
                </a:lnTo>
                <a:lnTo>
                  <a:pt x="3093834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"/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4431877" y="0"/>
            <a:ext cx="22719877" cy="15137118"/>
          </a:xfrm>
          <a:custGeom>
            <a:avLst/>
            <a:gdLst/>
            <a:ahLst/>
            <a:cxnLst/>
            <a:rect r="r" b="b" t="t" l="l"/>
            <a:pathLst>
              <a:path h="15137118" w="22719877">
                <a:moveTo>
                  <a:pt x="0" y="0"/>
                </a:moveTo>
                <a:lnTo>
                  <a:pt x="22719877" y="0"/>
                </a:lnTo>
                <a:lnTo>
                  <a:pt x="22719877" y="15137118"/>
                </a:lnTo>
                <a:lnTo>
                  <a:pt x="0" y="151371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3000"/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0"/>
            <a:ext cx="18288000" cy="11529060"/>
          </a:xfrm>
          <a:custGeom>
            <a:avLst/>
            <a:gdLst/>
            <a:ahLst/>
            <a:cxnLst/>
            <a:rect r="r" b="b" t="t" l="l"/>
            <a:pathLst>
              <a:path h="11529060" w="18288000">
                <a:moveTo>
                  <a:pt x="0" y="0"/>
                </a:moveTo>
                <a:lnTo>
                  <a:pt x="18288000" y="0"/>
                </a:lnTo>
                <a:lnTo>
                  <a:pt x="18288000" y="11529060"/>
                </a:lnTo>
                <a:lnTo>
                  <a:pt x="0" y="1152906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69000"/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28700" y="597983"/>
            <a:ext cx="1794252" cy="596589"/>
          </a:xfrm>
          <a:custGeom>
            <a:avLst/>
            <a:gdLst/>
            <a:ahLst/>
            <a:cxnLst/>
            <a:rect r="r" b="b" t="t" l="l"/>
            <a:pathLst>
              <a:path h="596589" w="1794252">
                <a:moveTo>
                  <a:pt x="0" y="0"/>
                </a:moveTo>
                <a:lnTo>
                  <a:pt x="1794252" y="0"/>
                </a:lnTo>
                <a:lnTo>
                  <a:pt x="1794252" y="596588"/>
                </a:lnTo>
                <a:lnTo>
                  <a:pt x="0" y="5965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5402687" y="8564542"/>
            <a:ext cx="7482626" cy="1579652"/>
            <a:chOff x="0" y="0"/>
            <a:chExt cx="9976834" cy="2106203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484706"/>
              <a:ext cx="9976834" cy="1411435"/>
              <a:chOff x="0" y="0"/>
              <a:chExt cx="1970733" cy="278802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1970733" cy="278802"/>
              </a:xfrm>
              <a:custGeom>
                <a:avLst/>
                <a:gdLst/>
                <a:ahLst/>
                <a:cxnLst/>
                <a:rect r="r" b="b" t="t" l="l"/>
                <a:pathLst>
                  <a:path h="278802" w="1970733">
                    <a:moveTo>
                      <a:pt x="17589" y="0"/>
                    </a:moveTo>
                    <a:lnTo>
                      <a:pt x="1953144" y="0"/>
                    </a:lnTo>
                    <a:cubicBezTo>
                      <a:pt x="1957808" y="0"/>
                      <a:pt x="1962282" y="1853"/>
                      <a:pt x="1965581" y="5152"/>
                    </a:cubicBezTo>
                    <a:cubicBezTo>
                      <a:pt x="1968879" y="8450"/>
                      <a:pt x="1970733" y="12924"/>
                      <a:pt x="1970733" y="17589"/>
                    </a:cubicBezTo>
                    <a:lnTo>
                      <a:pt x="1970733" y="261213"/>
                    </a:lnTo>
                    <a:cubicBezTo>
                      <a:pt x="1970733" y="265878"/>
                      <a:pt x="1968879" y="270352"/>
                      <a:pt x="1965581" y="273650"/>
                    </a:cubicBezTo>
                    <a:cubicBezTo>
                      <a:pt x="1962282" y="276949"/>
                      <a:pt x="1957808" y="278802"/>
                      <a:pt x="1953144" y="278802"/>
                    </a:cubicBezTo>
                    <a:lnTo>
                      <a:pt x="17589" y="278802"/>
                    </a:lnTo>
                    <a:cubicBezTo>
                      <a:pt x="12924" y="278802"/>
                      <a:pt x="8450" y="276949"/>
                      <a:pt x="5152" y="273650"/>
                    </a:cubicBezTo>
                    <a:cubicBezTo>
                      <a:pt x="1853" y="270352"/>
                      <a:pt x="0" y="265878"/>
                      <a:pt x="0" y="261213"/>
                    </a:cubicBezTo>
                    <a:lnTo>
                      <a:pt x="0" y="17589"/>
                    </a:lnTo>
                    <a:cubicBezTo>
                      <a:pt x="0" y="12924"/>
                      <a:pt x="1853" y="8450"/>
                      <a:pt x="5152" y="5152"/>
                    </a:cubicBezTo>
                    <a:cubicBezTo>
                      <a:pt x="8450" y="1853"/>
                      <a:pt x="12924" y="0"/>
                      <a:pt x="17589" y="0"/>
                    </a:cubicBezTo>
                    <a:close/>
                  </a:path>
                </a:pathLst>
              </a:custGeom>
              <a:solidFill>
                <a:srgbClr val="0D5F53"/>
              </a:solidFill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47625"/>
                <a:ext cx="1970733" cy="23117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134"/>
                  </a:lnSpc>
                </a:pPr>
              </a:p>
            </p:txBody>
          </p:sp>
        </p:grpSp>
        <p:sp>
          <p:nvSpPr>
            <p:cNvPr name="Freeform 10" id="10"/>
            <p:cNvSpPr/>
            <p:nvPr/>
          </p:nvSpPr>
          <p:spPr>
            <a:xfrm flipH="false" flipV="false" rot="0">
              <a:off x="4478533" y="613750"/>
              <a:ext cx="4775639" cy="999769"/>
            </a:xfrm>
            <a:custGeom>
              <a:avLst/>
              <a:gdLst/>
              <a:ahLst/>
              <a:cxnLst/>
              <a:rect r="r" b="b" t="t" l="l"/>
              <a:pathLst>
                <a:path h="999769" w="4775639">
                  <a:moveTo>
                    <a:pt x="0" y="0"/>
                  </a:moveTo>
                  <a:lnTo>
                    <a:pt x="4775639" y="0"/>
                  </a:lnTo>
                  <a:lnTo>
                    <a:pt x="4775639" y="999770"/>
                  </a:lnTo>
                  <a:lnTo>
                    <a:pt x="0" y="999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36537" t="0" r="0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2628935" y="508727"/>
              <a:ext cx="1683984" cy="1209815"/>
            </a:xfrm>
            <a:custGeom>
              <a:avLst/>
              <a:gdLst/>
              <a:ahLst/>
              <a:cxnLst/>
              <a:rect r="r" b="b" t="t" l="l"/>
              <a:pathLst>
                <a:path h="1209815" w="1683984">
                  <a:moveTo>
                    <a:pt x="0" y="0"/>
                  </a:moveTo>
                  <a:lnTo>
                    <a:pt x="1683984" y="0"/>
                  </a:lnTo>
                  <a:lnTo>
                    <a:pt x="1683984" y="1209815"/>
                  </a:lnTo>
                  <a:lnTo>
                    <a:pt x="0" y="12098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49861" t="-90941" r="-55948" b="-95532"/>
              </a:stretch>
            </a:blip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627416" y="0"/>
              <a:ext cx="2106203" cy="2106203"/>
            </a:xfrm>
            <a:custGeom>
              <a:avLst/>
              <a:gdLst/>
              <a:ahLst/>
              <a:cxnLst/>
              <a:rect r="r" b="b" t="t" l="l"/>
              <a:pathLst>
                <a:path h="2106203" w="2106203">
                  <a:moveTo>
                    <a:pt x="0" y="0"/>
                  </a:moveTo>
                  <a:lnTo>
                    <a:pt x="2106203" y="0"/>
                  </a:lnTo>
                  <a:lnTo>
                    <a:pt x="2106203" y="2106203"/>
                  </a:lnTo>
                  <a:lnTo>
                    <a:pt x="0" y="21062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3968225" y="2055923"/>
            <a:ext cx="10351551" cy="20408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Team ta5abes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4282534" y="698500"/>
            <a:ext cx="2976766" cy="641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99"/>
              </a:lnSpc>
            </a:pPr>
            <a:r>
              <a:rPr lang="en-US" b="true" sz="1999" spc="-39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IEEE AESS Sustainabilty</a:t>
            </a:r>
          </a:p>
          <a:p>
            <a:pPr algn="r">
              <a:lnSpc>
                <a:spcPts val="2599"/>
              </a:lnSpc>
            </a:pPr>
            <a:r>
              <a:rPr lang="en-US" b="true" sz="1999" spc="-39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Hackathon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8354471" y="4039596"/>
            <a:ext cx="1212600" cy="600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Track 4: Sustainable Space Systems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276819" y="5707380"/>
            <a:ext cx="3595291" cy="554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Intelligent Orbital Debris Removal Planner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915109" y="7128682"/>
            <a:ext cx="1976140" cy="554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87"/>
              </a:lnSpc>
            </a:pPr>
            <a:r>
              <a:rPr lang="en-US" b="true" sz="3276">
                <a:solidFill>
                  <a:srgbClr val="FFFF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SB LOGO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2A2A">
                <a:alpha val="100000"/>
              </a:srgbClr>
            </a:gs>
            <a:gs pos="100000">
              <a:srgbClr val="005959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650346" y="0"/>
            <a:ext cx="30938346" cy="10287000"/>
          </a:xfrm>
          <a:custGeom>
            <a:avLst/>
            <a:gdLst/>
            <a:ahLst/>
            <a:cxnLst/>
            <a:rect r="r" b="b" t="t" l="l"/>
            <a:pathLst>
              <a:path h="10287000" w="30938346">
                <a:moveTo>
                  <a:pt x="0" y="0"/>
                </a:moveTo>
                <a:lnTo>
                  <a:pt x="30938346" y="0"/>
                </a:lnTo>
                <a:lnTo>
                  <a:pt x="3093834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"/>
            </a:blip>
            <a:stretch>
              <a:fillRect l="0" t="0" r="0" b="0"/>
            </a:stretch>
          </a:blipFill>
        </p:spPr>
        <p:txBody>
          <a:bodyPr/>
          <a:p>
            <a:pPr>
              <a:defRPr sz="1800"/>
            </a:pPr>
            <a:r>
              <a:t>• Over 36,500 objects &gt;10cm threaten orbital sustainability.</a:t>
            </a:r>
          </a:p>
          <a:p>
            <a:pPr>
              <a:defRPr sz="1800"/>
            </a:pPr>
            <a:r>
              <a:t>• 1 million+ fragments (&gt;1cm) posing catastrophic collision risk.</a:t>
            </a:r>
          </a:p>
          <a:p>
            <a:pPr>
              <a:defRPr sz="1800"/>
            </a:pPr>
            <a:r>
              <a:t>• Kessler Syndrome: A self-perpetuating collision cascade.</a:t>
            </a:r>
          </a:p>
          <a:p>
            <a:pPr>
              <a:defRPr sz="1800"/>
            </a:pPr>
            <a:r>
              <a:t>• Fuel Bottleneck: Every m/s saved extends mission lifetime.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028700" y="597983"/>
            <a:ext cx="1794252" cy="596589"/>
          </a:xfrm>
          <a:custGeom>
            <a:avLst/>
            <a:gdLst/>
            <a:ahLst/>
            <a:cxnLst/>
            <a:rect r="r" b="b" t="t" l="l"/>
            <a:pathLst>
              <a:path h="596589" w="1794252">
                <a:moveTo>
                  <a:pt x="0" y="0"/>
                </a:moveTo>
                <a:lnTo>
                  <a:pt x="1794252" y="0"/>
                </a:lnTo>
                <a:lnTo>
                  <a:pt x="1794252" y="596588"/>
                </a:lnTo>
                <a:lnTo>
                  <a:pt x="0" y="5965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856288" y="2096431"/>
            <a:ext cx="9694648" cy="989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470"/>
              </a:lnSpc>
            </a:pPr>
            <a:r>
              <a:rPr lang="en-US" sz="7470" b="true">
                <a:solidFill>
                  <a:srgbClr val="70E6D2"/>
                </a:solidFill>
                <a:latin typeface="Titillium Web Bold"/>
                <a:ea typeface="Titillium Web Bold"/>
                <a:cs typeface="Titillium Web Bold"/>
                <a:sym typeface="Titillium Web Bold"/>
              </a:rPr>
              <a:t>ProbeLem Statement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282534" y="698500"/>
            <a:ext cx="2976766" cy="641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99"/>
              </a:lnSpc>
            </a:pPr>
            <a:r>
              <a:rPr lang="en-US" b="true" sz="1999" spc="-39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IEEE AESS Sustainabilty</a:t>
            </a:r>
          </a:p>
          <a:p>
            <a:pPr algn="r">
              <a:lnSpc>
                <a:spcPts val="2599"/>
              </a:lnSpc>
            </a:pPr>
            <a:r>
              <a:rPr lang="en-US" b="true" sz="1999" spc="-39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Hackathon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004028" y="3848292"/>
            <a:ext cx="13798301" cy="4336675"/>
            <a:chOff x="0" y="0"/>
            <a:chExt cx="18397734" cy="5782233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0"/>
              <a:ext cx="18397734" cy="5782233"/>
              <a:chOff x="0" y="0"/>
              <a:chExt cx="1651617" cy="519088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1651617" cy="519088"/>
              </a:xfrm>
              <a:custGeom>
                <a:avLst/>
                <a:gdLst/>
                <a:ahLst/>
                <a:cxnLst/>
                <a:rect r="r" b="b" t="t" l="l"/>
                <a:pathLst>
                  <a:path h="519088" w="1651617">
                    <a:moveTo>
                      <a:pt x="69702" y="0"/>
                    </a:moveTo>
                    <a:lnTo>
                      <a:pt x="1581915" y="0"/>
                    </a:lnTo>
                    <a:cubicBezTo>
                      <a:pt x="1600401" y="0"/>
                      <a:pt x="1618130" y="7344"/>
                      <a:pt x="1631202" y="20415"/>
                    </a:cubicBezTo>
                    <a:cubicBezTo>
                      <a:pt x="1644273" y="33487"/>
                      <a:pt x="1651617" y="51216"/>
                      <a:pt x="1651617" y="69702"/>
                    </a:cubicBezTo>
                    <a:lnTo>
                      <a:pt x="1651617" y="449386"/>
                    </a:lnTo>
                    <a:cubicBezTo>
                      <a:pt x="1651617" y="467872"/>
                      <a:pt x="1644273" y="485601"/>
                      <a:pt x="1631202" y="498672"/>
                    </a:cubicBezTo>
                    <a:cubicBezTo>
                      <a:pt x="1618130" y="511744"/>
                      <a:pt x="1600401" y="519088"/>
                      <a:pt x="1581915" y="519088"/>
                    </a:cubicBezTo>
                    <a:lnTo>
                      <a:pt x="69702" y="519088"/>
                    </a:lnTo>
                    <a:cubicBezTo>
                      <a:pt x="51216" y="519088"/>
                      <a:pt x="33487" y="511744"/>
                      <a:pt x="20415" y="498672"/>
                    </a:cubicBezTo>
                    <a:cubicBezTo>
                      <a:pt x="7344" y="485601"/>
                      <a:pt x="0" y="467872"/>
                      <a:pt x="0" y="449386"/>
                    </a:cubicBezTo>
                    <a:lnTo>
                      <a:pt x="0" y="69702"/>
                    </a:lnTo>
                    <a:cubicBezTo>
                      <a:pt x="0" y="51216"/>
                      <a:pt x="7344" y="33487"/>
                      <a:pt x="20415" y="20415"/>
                    </a:cubicBezTo>
                    <a:cubicBezTo>
                      <a:pt x="33487" y="7344"/>
                      <a:pt x="51216" y="0"/>
                      <a:pt x="6970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rnd">
                <a:solidFill>
                  <a:srgbClr val="0E9C79"/>
                </a:solidFill>
                <a:prstDash val="solid"/>
                <a:round/>
              </a:ln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47625"/>
                <a:ext cx="1651617" cy="471463"/>
              </a:xfrm>
              <a:prstGeom prst="rect">
                <a:avLst/>
              </a:prstGeom>
            </p:spPr>
            <p:txBody>
              <a:bodyPr anchor="ctr" rtlCol="false" tIns="55133" lIns="55133" bIns="55133" rIns="55133"/>
              <a:lstStyle/>
              <a:p>
                <a:pPr algn="ctr">
                  <a:lnSpc>
                    <a:spcPts val="1133"/>
                  </a:lnSpc>
                </a:pPr>
              </a:p>
            </p:txBody>
          </p:sp>
        </p:grpSp>
        <p:sp>
          <p:nvSpPr>
            <p:cNvPr name="TextBox 10" id="10"/>
            <p:cNvSpPr txBox="true"/>
            <p:nvPr/>
          </p:nvSpPr>
          <p:spPr>
            <a:xfrm rot="0">
              <a:off x="1807478" y="780446"/>
              <a:ext cx="14782779" cy="40213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729706" indent="-364853" lvl="1">
                <a:lnSpc>
                  <a:spcPts val="6185"/>
                </a:lnSpc>
                <a:buFont typeface="Arial"/>
                <a:buChar char="•"/>
              </a:pPr>
              <a:r>
                <a:rPr lang="en-US" b="true" sz="3379">
                  <a:solidFill>
                    <a:srgbClr val="0E9C79"/>
                  </a:solidFill>
                  <a:latin typeface="Open Sauce Heavy"/>
                  <a:ea typeface="Open Sauce Heavy"/>
                  <a:cs typeface="Open Sauce Heavy"/>
                  <a:sym typeface="Open Sauce Heavy"/>
                </a:rPr>
                <a:t>What is the problem?</a:t>
              </a:r>
            </a:p>
            <a:p>
              <a:pPr algn="l" marL="729706" indent="-364853" lvl="1">
                <a:lnSpc>
                  <a:spcPts val="6185"/>
                </a:lnSpc>
                <a:buFont typeface="Arial"/>
                <a:buChar char="•"/>
              </a:pPr>
              <a:r>
                <a:rPr lang="en-US" b="true" sz="3379">
                  <a:solidFill>
                    <a:srgbClr val="0E9C79"/>
                  </a:solidFill>
                  <a:latin typeface="Open Sauce Heavy"/>
                  <a:ea typeface="Open Sauce Heavy"/>
                  <a:cs typeface="Open Sauce Heavy"/>
                  <a:sym typeface="Open Sauce Heavy"/>
                </a:rPr>
                <a:t>Who is affected?</a:t>
              </a:r>
            </a:p>
            <a:p>
              <a:pPr algn="l" marL="729706" indent="-364853" lvl="1">
                <a:lnSpc>
                  <a:spcPts val="6185"/>
                </a:lnSpc>
                <a:buFont typeface="Arial"/>
                <a:buChar char="•"/>
              </a:pPr>
              <a:r>
                <a:rPr lang="en-US" b="true" sz="3379">
                  <a:solidFill>
                    <a:srgbClr val="0E9C79"/>
                  </a:solidFill>
                  <a:latin typeface="Open Sauce Heavy"/>
                  <a:ea typeface="Open Sauce Heavy"/>
                  <a:cs typeface="Open Sauce Heavy"/>
                  <a:sym typeface="Open Sauce Heavy"/>
                </a:rPr>
                <a:t>Why does it matter now?</a:t>
              </a:r>
            </a:p>
            <a:p>
              <a:pPr algn="l" marL="729706" indent="-364853" lvl="1">
                <a:lnSpc>
                  <a:spcPts val="6185"/>
                </a:lnSpc>
                <a:buFont typeface="Arial"/>
                <a:buChar char="•"/>
              </a:pPr>
              <a:r>
                <a:rPr lang="en-US" b="true" sz="3379">
                  <a:solidFill>
                    <a:srgbClr val="0E9C79"/>
                  </a:solidFill>
                  <a:latin typeface="Open Sauce Heavy"/>
                  <a:ea typeface="Open Sauce Heavy"/>
                  <a:cs typeface="Open Sauce Heavy"/>
                  <a:sym typeface="Open Sauce Heavy"/>
                </a:rPr>
                <a:t>Include real-world context or statistics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2625644" y="3507711"/>
            <a:ext cx="15989971" cy="9354511"/>
          </a:xfrm>
          <a:custGeom>
            <a:avLst/>
            <a:gdLst/>
            <a:ahLst/>
            <a:cxnLst/>
            <a:rect r="r" b="b" t="t" l="l"/>
            <a:pathLst>
              <a:path h="9354511" w="15989971">
                <a:moveTo>
                  <a:pt x="0" y="0"/>
                </a:moveTo>
                <a:lnTo>
                  <a:pt x="15989971" y="0"/>
                </a:lnTo>
                <a:lnTo>
                  <a:pt x="15989971" y="9354511"/>
                </a:lnTo>
                <a:lnTo>
                  <a:pt x="0" y="93545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6942" r="0" b="-6942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8520766" y="460313"/>
            <a:ext cx="3581729" cy="749827"/>
          </a:xfrm>
          <a:custGeom>
            <a:avLst/>
            <a:gdLst/>
            <a:ahLst/>
            <a:cxnLst/>
            <a:rect r="r" b="b" t="t" l="l"/>
            <a:pathLst>
              <a:path h="749827" w="3581729">
                <a:moveTo>
                  <a:pt x="0" y="0"/>
                </a:moveTo>
                <a:lnTo>
                  <a:pt x="3581729" y="0"/>
                </a:lnTo>
                <a:lnTo>
                  <a:pt x="3581729" y="749827"/>
                </a:lnTo>
                <a:lnTo>
                  <a:pt x="0" y="7498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36537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7133567" y="381546"/>
            <a:ext cx="1262988" cy="907361"/>
          </a:xfrm>
          <a:custGeom>
            <a:avLst/>
            <a:gdLst/>
            <a:ahLst/>
            <a:cxnLst/>
            <a:rect r="r" b="b" t="t" l="l"/>
            <a:pathLst>
              <a:path h="907361" w="1262988">
                <a:moveTo>
                  <a:pt x="0" y="0"/>
                </a:moveTo>
                <a:lnTo>
                  <a:pt x="1262988" y="0"/>
                </a:lnTo>
                <a:lnTo>
                  <a:pt x="1262988" y="907361"/>
                </a:lnTo>
                <a:lnTo>
                  <a:pt x="0" y="90736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49861" t="-90941" r="-55948" b="-95532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632428" y="0"/>
            <a:ext cx="1579652" cy="1579652"/>
          </a:xfrm>
          <a:custGeom>
            <a:avLst/>
            <a:gdLst/>
            <a:ahLst/>
            <a:cxnLst/>
            <a:rect r="r" b="b" t="t" l="l"/>
            <a:pathLst>
              <a:path h="1579652" w="1579652">
                <a:moveTo>
                  <a:pt x="0" y="0"/>
                </a:moveTo>
                <a:lnTo>
                  <a:pt x="1579652" y="0"/>
                </a:lnTo>
                <a:lnTo>
                  <a:pt x="1579652" y="1579652"/>
                </a:lnTo>
                <a:lnTo>
                  <a:pt x="0" y="157965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</p:spTree>
  </p:cSld>
  <p:clrMapOvr>
    <a:masterClrMapping/>
  </p:clrMapOvr>
  <p:transition spd="slow">
    <p:fade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2A2A">
                <a:alpha val="100000"/>
              </a:srgbClr>
            </a:gs>
            <a:gs pos="100000">
              <a:srgbClr val="005959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650346" y="0"/>
            <a:ext cx="30938346" cy="10287000"/>
          </a:xfrm>
          <a:custGeom>
            <a:avLst/>
            <a:gdLst/>
            <a:ahLst/>
            <a:cxnLst/>
            <a:rect r="r" b="b" t="t" l="l"/>
            <a:pathLst>
              <a:path h="10287000" w="30938346">
                <a:moveTo>
                  <a:pt x="0" y="0"/>
                </a:moveTo>
                <a:lnTo>
                  <a:pt x="30938346" y="0"/>
                </a:lnTo>
                <a:lnTo>
                  <a:pt x="3093834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"/>
            </a:blip>
            <a:stretch>
              <a:fillRect l="0" t="0" r="0" b="0"/>
            </a:stretch>
          </a:blipFill>
        </p:spPr>
        <p:txBody>
          <a:bodyPr/>
          <a:p>
            <a:pPr>
              <a:defRPr sz="1800"/>
            </a:pPr>
            <a:r>
              <a:t>• RL Core: PPO Agent optimizes multi-target collection sequencing.</a:t>
            </a:r>
          </a:p>
          <a:p>
            <a:pPr>
              <a:defRPr sz="1800"/>
            </a:pPr>
            <a:r>
              <a:t>• RAG Advisory: Grounded decisions via NASA/ESA standard retrieval.</a:t>
            </a:r>
          </a:p>
          <a:p>
            <a:pPr>
              <a:defRPr sz="1800"/>
            </a:pPr>
            <a:r>
              <a:t>• Mission Goal: Maximize debris cleared per gram of propellant.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028700" y="597983"/>
            <a:ext cx="1794252" cy="596589"/>
          </a:xfrm>
          <a:custGeom>
            <a:avLst/>
            <a:gdLst/>
            <a:ahLst/>
            <a:cxnLst/>
            <a:rect r="r" b="b" t="t" l="l"/>
            <a:pathLst>
              <a:path h="596589" w="1794252">
                <a:moveTo>
                  <a:pt x="0" y="0"/>
                </a:moveTo>
                <a:lnTo>
                  <a:pt x="1794252" y="0"/>
                </a:lnTo>
                <a:lnTo>
                  <a:pt x="1794252" y="596588"/>
                </a:lnTo>
                <a:lnTo>
                  <a:pt x="0" y="5965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915201" y="4054618"/>
            <a:ext cx="14457597" cy="3176212"/>
            <a:chOff x="0" y="0"/>
            <a:chExt cx="19276796" cy="4234949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19276796" cy="4234949"/>
              <a:chOff x="0" y="0"/>
              <a:chExt cx="1834642" cy="402971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1834642" cy="402971"/>
              </a:xfrm>
              <a:custGeom>
                <a:avLst/>
                <a:gdLst/>
                <a:ahLst/>
                <a:cxnLst/>
                <a:rect r="r" b="b" t="t" l="l"/>
                <a:pathLst>
                  <a:path h="402971" w="1834642">
                    <a:moveTo>
                      <a:pt x="1834642" y="73845"/>
                    </a:moveTo>
                    <a:lnTo>
                      <a:pt x="1834642" y="329126"/>
                    </a:lnTo>
                    <a:cubicBezTo>
                      <a:pt x="1834642" y="348711"/>
                      <a:pt x="1826862" y="367494"/>
                      <a:pt x="1813013" y="381342"/>
                    </a:cubicBezTo>
                    <a:cubicBezTo>
                      <a:pt x="1799165" y="395191"/>
                      <a:pt x="1780382" y="402971"/>
                      <a:pt x="1760797" y="402971"/>
                    </a:cubicBezTo>
                    <a:lnTo>
                      <a:pt x="73845" y="402971"/>
                    </a:lnTo>
                    <a:cubicBezTo>
                      <a:pt x="54260" y="402971"/>
                      <a:pt x="35477" y="395191"/>
                      <a:pt x="21629" y="381342"/>
                    </a:cubicBezTo>
                    <a:cubicBezTo>
                      <a:pt x="7780" y="367494"/>
                      <a:pt x="0" y="348711"/>
                      <a:pt x="0" y="329126"/>
                    </a:cubicBezTo>
                    <a:lnTo>
                      <a:pt x="0" y="73845"/>
                    </a:lnTo>
                    <a:cubicBezTo>
                      <a:pt x="0" y="54260"/>
                      <a:pt x="7780" y="35477"/>
                      <a:pt x="21629" y="21629"/>
                    </a:cubicBezTo>
                    <a:cubicBezTo>
                      <a:pt x="35477" y="7780"/>
                      <a:pt x="54260" y="0"/>
                      <a:pt x="73845" y="0"/>
                    </a:cubicBezTo>
                    <a:lnTo>
                      <a:pt x="1760797" y="0"/>
                    </a:lnTo>
                    <a:cubicBezTo>
                      <a:pt x="1780382" y="0"/>
                      <a:pt x="1799165" y="7780"/>
                      <a:pt x="1813013" y="21629"/>
                    </a:cubicBezTo>
                    <a:cubicBezTo>
                      <a:pt x="1826862" y="35477"/>
                      <a:pt x="1834642" y="54260"/>
                      <a:pt x="1834642" y="73845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rnd">
                <a:solidFill>
                  <a:srgbClr val="0E9C79"/>
                </a:solidFill>
                <a:prstDash val="solid"/>
                <a:round/>
              </a:ln>
            </p:spPr>
          </p:sp>
          <p:sp>
            <p:nvSpPr>
              <p:cNvPr name="TextBox 7" id="7"/>
              <p:cNvSpPr txBox="true"/>
              <p:nvPr/>
            </p:nvSpPr>
            <p:spPr>
              <a:xfrm>
                <a:off x="0" y="47625"/>
                <a:ext cx="1834642" cy="35534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134"/>
                  </a:lnSpc>
                </a:pPr>
              </a:p>
            </p:txBody>
          </p:sp>
        </p:grpSp>
        <p:sp>
          <p:nvSpPr>
            <p:cNvPr name="TextBox 8" id="8"/>
            <p:cNvSpPr txBox="true"/>
            <p:nvPr/>
          </p:nvSpPr>
          <p:spPr>
            <a:xfrm rot="0">
              <a:off x="1893841" y="844187"/>
              <a:ext cx="15489114" cy="256235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792750" indent="-396375" lvl="1">
                <a:lnSpc>
                  <a:spcPts val="5140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b="true" sz="3671" spc="-73">
                  <a:solidFill>
                    <a:srgbClr val="0E9C79"/>
                  </a:solidFill>
                  <a:latin typeface="Poppins Ultra-Bold"/>
                  <a:ea typeface="Poppins Ultra-Bold"/>
                  <a:cs typeface="Poppins Ultra-Bold"/>
                  <a:sym typeface="Poppins Ultra-Bold"/>
                </a:rPr>
                <a:t>Descr</a:t>
              </a:r>
              <a:r>
                <a:rPr lang="en-US" b="true" sz="3671" spc="-73">
                  <a:solidFill>
                    <a:srgbClr val="0E9C79"/>
                  </a:solidFill>
                  <a:latin typeface="Poppins Ultra-Bold"/>
                  <a:ea typeface="Poppins Ultra-Bold"/>
                  <a:cs typeface="Poppins Ultra-Bold"/>
                  <a:sym typeface="Poppins Ultra-Bold"/>
                </a:rPr>
                <a:t>ibe your solution clearly</a:t>
              </a:r>
            </a:p>
            <a:p>
              <a:pPr algn="l" marL="792750" indent="-396375" lvl="1">
                <a:lnSpc>
                  <a:spcPts val="5140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b="true" sz="3671" spc="-73">
                  <a:solidFill>
                    <a:srgbClr val="0E9C79"/>
                  </a:solidFill>
                  <a:latin typeface="Poppins Ultra-Bold"/>
                  <a:ea typeface="Poppins Ultra-Bold"/>
                  <a:cs typeface="Poppins Ultra-Bold"/>
                  <a:sym typeface="Poppins Ultra-Bold"/>
                </a:rPr>
                <a:t>How it works in simple terms</a:t>
              </a:r>
            </a:p>
            <a:p>
              <a:pPr algn="l" marL="792750" indent="-396375" lvl="1">
                <a:lnSpc>
                  <a:spcPts val="5140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b="true" sz="3671" spc="-73">
                  <a:solidFill>
                    <a:srgbClr val="0E9C79"/>
                  </a:solidFill>
                  <a:latin typeface="Poppins Ultra-Bold"/>
                  <a:ea typeface="Poppins Ultra-Bold"/>
                  <a:cs typeface="Poppins Ultra-Bold"/>
                  <a:sym typeface="Poppins Ultra-Bold"/>
                </a:rPr>
                <a:t>What makes it different </a:t>
              </a: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9723642" y="6947460"/>
            <a:ext cx="8743570" cy="5825403"/>
          </a:xfrm>
          <a:custGeom>
            <a:avLst/>
            <a:gdLst/>
            <a:ahLst/>
            <a:cxnLst/>
            <a:rect r="r" b="b" t="t" l="l"/>
            <a:pathLst>
              <a:path h="5825403" w="8743570">
                <a:moveTo>
                  <a:pt x="0" y="0"/>
                </a:moveTo>
                <a:lnTo>
                  <a:pt x="8743570" y="0"/>
                </a:lnTo>
                <a:lnTo>
                  <a:pt x="8743570" y="5825403"/>
                </a:lnTo>
                <a:lnTo>
                  <a:pt x="0" y="58254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5020398" y="1872227"/>
            <a:ext cx="8247205" cy="989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470"/>
              </a:lnSpc>
            </a:pPr>
            <a:r>
              <a:rPr lang="en-US" sz="7470" b="true">
                <a:solidFill>
                  <a:srgbClr val="70E6D2"/>
                </a:solidFill>
                <a:latin typeface="Titillium Web Bold"/>
                <a:ea typeface="Titillium Web Bold"/>
                <a:cs typeface="Titillium Web Bold"/>
                <a:sym typeface="Titillium Web Bold"/>
              </a:rPr>
              <a:t>Proposed Solution 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282534" y="698500"/>
            <a:ext cx="2976766" cy="641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99"/>
              </a:lnSpc>
            </a:pPr>
            <a:r>
              <a:rPr lang="en-US" b="true" sz="1999" spc="-39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IEEE AESS Sustainabilty</a:t>
            </a:r>
          </a:p>
          <a:p>
            <a:pPr algn="r">
              <a:lnSpc>
                <a:spcPts val="2599"/>
              </a:lnSpc>
            </a:pPr>
            <a:r>
              <a:rPr lang="en-US" b="true" sz="1999" spc="-39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Hackathon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156079" y="2795412"/>
            <a:ext cx="1975842" cy="5638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r>
              <a:t>Autonomous Dual-Layer AI Architecture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8520766" y="460313"/>
            <a:ext cx="3581729" cy="749827"/>
          </a:xfrm>
          <a:custGeom>
            <a:avLst/>
            <a:gdLst/>
            <a:ahLst/>
            <a:cxnLst/>
            <a:rect r="r" b="b" t="t" l="l"/>
            <a:pathLst>
              <a:path h="749827" w="3581729">
                <a:moveTo>
                  <a:pt x="0" y="0"/>
                </a:moveTo>
                <a:lnTo>
                  <a:pt x="3581729" y="0"/>
                </a:lnTo>
                <a:lnTo>
                  <a:pt x="3581729" y="749827"/>
                </a:lnTo>
                <a:lnTo>
                  <a:pt x="0" y="7498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36537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7133567" y="381546"/>
            <a:ext cx="1262988" cy="907361"/>
          </a:xfrm>
          <a:custGeom>
            <a:avLst/>
            <a:gdLst/>
            <a:ahLst/>
            <a:cxnLst/>
            <a:rect r="r" b="b" t="t" l="l"/>
            <a:pathLst>
              <a:path h="907361" w="1262988">
                <a:moveTo>
                  <a:pt x="0" y="0"/>
                </a:moveTo>
                <a:lnTo>
                  <a:pt x="1262988" y="0"/>
                </a:lnTo>
                <a:lnTo>
                  <a:pt x="1262988" y="907361"/>
                </a:lnTo>
                <a:lnTo>
                  <a:pt x="0" y="90736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49861" t="-90941" r="-55948" b="-95532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5632428" y="0"/>
            <a:ext cx="1579652" cy="1579652"/>
          </a:xfrm>
          <a:custGeom>
            <a:avLst/>
            <a:gdLst/>
            <a:ahLst/>
            <a:cxnLst/>
            <a:rect r="r" b="b" t="t" l="l"/>
            <a:pathLst>
              <a:path h="1579652" w="1579652">
                <a:moveTo>
                  <a:pt x="0" y="0"/>
                </a:moveTo>
                <a:lnTo>
                  <a:pt x="1579652" y="0"/>
                </a:lnTo>
                <a:lnTo>
                  <a:pt x="1579652" y="1579652"/>
                </a:lnTo>
                <a:lnTo>
                  <a:pt x="0" y="157965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</p:spTree>
  </p:cSld>
  <p:clrMapOvr>
    <a:masterClrMapping/>
  </p:clrMapOvr>
  <p:transition spd="slow">
    <p:fade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2A2A">
                <a:alpha val="100000"/>
              </a:srgbClr>
            </a:gs>
            <a:gs pos="100000">
              <a:srgbClr val="005959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650346" y="0"/>
            <a:ext cx="30938346" cy="10287000"/>
          </a:xfrm>
          <a:custGeom>
            <a:avLst/>
            <a:gdLst/>
            <a:ahLst/>
            <a:cxnLst/>
            <a:rect r="r" b="b" t="t" l="l"/>
            <a:pathLst>
              <a:path h="10287000" w="30938346">
                <a:moveTo>
                  <a:pt x="0" y="0"/>
                </a:moveTo>
                <a:lnTo>
                  <a:pt x="30938346" y="0"/>
                </a:lnTo>
                <a:lnTo>
                  <a:pt x="3093834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"/>
            </a:blip>
            <a:stretch>
              <a:fillRect l="0" t="0" r="0" b="0"/>
            </a:stretch>
          </a:blipFill>
        </p:spPr>
        <p:txBody>
          <a:bodyPr/>
          <a:p>
            <a:pPr>
              <a:defRPr sz="1800"/>
            </a:pPr>
            <a:r>
              <a:t>• Environment: 3D Keplerian simulator with real-world TLE data.</a:t>
            </a:r>
          </a:p>
          <a:p>
            <a:pPr>
              <a:defRPr sz="1800"/>
            </a:pPr>
            <a:r>
              <a:t>• Strategy: Fuel-optimal sequencing via Reinforcement Learning.</a:t>
            </a:r>
          </a:p>
          <a:p>
            <a:pPr>
              <a:defRPr sz="1800"/>
            </a:pPr>
            <a:r>
              <a:t>• Safety: Retrieval-Augmented Generation for operational compliance.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1944176"/>
            <a:ext cx="16680414" cy="989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470"/>
              </a:lnSpc>
            </a:pPr>
            <a:r>
              <a:rPr lang="en-US" sz="7470" b="true">
                <a:solidFill>
                  <a:srgbClr val="70E6D2"/>
                </a:solidFill>
                <a:latin typeface="Titillium Web Bold"/>
                <a:ea typeface="Titillium Web Bold"/>
                <a:cs typeface="Titillium Web Bold"/>
                <a:sym typeface="Titillium Web Bold"/>
              </a:rPr>
              <a:t>System Architecture &amp; Technical Design 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028700" y="597983"/>
            <a:ext cx="1794252" cy="596589"/>
          </a:xfrm>
          <a:custGeom>
            <a:avLst/>
            <a:gdLst/>
            <a:ahLst/>
            <a:cxnLst/>
            <a:rect r="r" b="b" t="t" l="l"/>
            <a:pathLst>
              <a:path h="596589" w="1794252">
                <a:moveTo>
                  <a:pt x="0" y="0"/>
                </a:moveTo>
                <a:lnTo>
                  <a:pt x="1794252" y="0"/>
                </a:lnTo>
                <a:lnTo>
                  <a:pt x="1794252" y="596588"/>
                </a:lnTo>
                <a:lnTo>
                  <a:pt x="0" y="5965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4282534" y="698500"/>
            <a:ext cx="2976766" cy="641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99"/>
              </a:lnSpc>
            </a:pPr>
            <a:r>
              <a:rPr lang="en-US" b="true" sz="1999" spc="-39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IEEE AESS Sustainabilty</a:t>
            </a:r>
          </a:p>
          <a:p>
            <a:pPr algn="r">
              <a:lnSpc>
                <a:spcPts val="2599"/>
              </a:lnSpc>
            </a:pPr>
            <a:r>
              <a:rPr lang="en-US" b="true" sz="1999" spc="-39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Hackathon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708468" y="3788028"/>
            <a:ext cx="12871064" cy="5566340"/>
            <a:chOff x="0" y="0"/>
            <a:chExt cx="17161418" cy="7421787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0"/>
              <a:ext cx="17161418" cy="7421787"/>
              <a:chOff x="0" y="0"/>
              <a:chExt cx="1801544" cy="779112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1801544" cy="779112"/>
              </a:xfrm>
              <a:custGeom>
                <a:avLst/>
                <a:gdLst/>
                <a:ahLst/>
                <a:cxnLst/>
                <a:rect r="r" b="b" t="t" l="l"/>
                <a:pathLst>
                  <a:path h="779112" w="1801544">
                    <a:moveTo>
                      <a:pt x="46791" y="0"/>
                    </a:moveTo>
                    <a:lnTo>
                      <a:pt x="1754752" y="0"/>
                    </a:lnTo>
                    <a:cubicBezTo>
                      <a:pt x="1767162" y="0"/>
                      <a:pt x="1779064" y="4930"/>
                      <a:pt x="1787839" y="13705"/>
                    </a:cubicBezTo>
                    <a:cubicBezTo>
                      <a:pt x="1796614" y="22480"/>
                      <a:pt x="1801544" y="34381"/>
                      <a:pt x="1801544" y="46791"/>
                    </a:cubicBezTo>
                    <a:lnTo>
                      <a:pt x="1801544" y="732321"/>
                    </a:lnTo>
                    <a:cubicBezTo>
                      <a:pt x="1801544" y="758163"/>
                      <a:pt x="1780595" y="779112"/>
                      <a:pt x="1754752" y="779112"/>
                    </a:cubicBezTo>
                    <a:lnTo>
                      <a:pt x="46791" y="779112"/>
                    </a:lnTo>
                    <a:cubicBezTo>
                      <a:pt x="34381" y="779112"/>
                      <a:pt x="22480" y="774183"/>
                      <a:pt x="13705" y="765407"/>
                    </a:cubicBezTo>
                    <a:cubicBezTo>
                      <a:pt x="4930" y="756632"/>
                      <a:pt x="0" y="744731"/>
                      <a:pt x="0" y="732321"/>
                    </a:cubicBezTo>
                    <a:lnTo>
                      <a:pt x="0" y="46791"/>
                    </a:lnTo>
                    <a:cubicBezTo>
                      <a:pt x="0" y="20949"/>
                      <a:pt x="20949" y="0"/>
                      <a:pt x="4679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rnd">
                <a:solidFill>
                  <a:srgbClr val="0E9C79"/>
                </a:solidFill>
                <a:prstDash val="solid"/>
                <a:round/>
              </a:ln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47625"/>
                <a:ext cx="1801544" cy="73148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134"/>
                  </a:lnSpc>
                </a:pPr>
              </a:p>
            </p:txBody>
          </p:sp>
        </p:grpSp>
        <p:sp>
          <p:nvSpPr>
            <p:cNvPr name="TextBox 10" id="10"/>
            <p:cNvSpPr txBox="true"/>
            <p:nvPr/>
          </p:nvSpPr>
          <p:spPr>
            <a:xfrm rot="0">
              <a:off x="1451248" y="436145"/>
              <a:ext cx="14530027" cy="65113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88"/>
                </a:lnSpc>
              </a:pPr>
            </a:p>
            <a:p>
              <a:pPr algn="l">
                <a:lnSpc>
                  <a:spcPts val="3968"/>
                </a:lnSpc>
              </a:pPr>
              <a:r>
                <a:rPr lang="en-US" sz="2834" b="true">
                  <a:solidFill>
                    <a:srgbClr val="0E9C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Include:</a:t>
              </a:r>
            </a:p>
            <a:p>
              <a:pPr algn="l" marL="611936" indent="-305968" lvl="1">
                <a:lnSpc>
                  <a:spcPts val="3968"/>
                </a:lnSpc>
                <a:buFont typeface="Arial"/>
                <a:buChar char="•"/>
              </a:pPr>
              <a:r>
                <a:rPr lang="en-US" b="true" sz="2834">
                  <a:solidFill>
                    <a:srgbClr val="0E9C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System d</a:t>
              </a:r>
              <a:r>
                <a:rPr lang="en-US" b="true" sz="2834">
                  <a:solidFill>
                    <a:srgbClr val="0E9C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iagram (VERY recommended)</a:t>
              </a:r>
            </a:p>
            <a:p>
              <a:pPr algn="l" marL="611936" indent="-305968" lvl="1">
                <a:lnSpc>
                  <a:spcPts val="3968"/>
                </a:lnSpc>
                <a:buFont typeface="Arial"/>
                <a:buChar char="•"/>
              </a:pPr>
              <a:r>
                <a:rPr lang="en-US" b="true" sz="2834">
                  <a:solidFill>
                    <a:srgbClr val="0E9C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Components (hardware + software if applicable)</a:t>
              </a:r>
            </a:p>
            <a:p>
              <a:pPr algn="l" marL="611936" indent="-305968" lvl="1">
                <a:lnSpc>
                  <a:spcPts val="3968"/>
                </a:lnSpc>
                <a:buFont typeface="Arial"/>
                <a:buChar char="•"/>
              </a:pPr>
              <a:r>
                <a:rPr lang="en-US" b="true" sz="2834">
                  <a:solidFill>
                    <a:srgbClr val="0E9C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Data flow explanation</a:t>
              </a:r>
            </a:p>
            <a:p>
              <a:pPr algn="l">
                <a:lnSpc>
                  <a:spcPts val="3968"/>
                </a:lnSpc>
              </a:pPr>
              <a:r>
                <a:rPr lang="en-US" sz="2834" b="true">
                  <a:solidFill>
                    <a:srgbClr val="0E9C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Example structure:</a:t>
              </a:r>
            </a:p>
            <a:p>
              <a:pPr algn="l" marL="611936" indent="-305968" lvl="1">
                <a:lnSpc>
                  <a:spcPts val="3968"/>
                </a:lnSpc>
                <a:buFont typeface="Arial"/>
                <a:buChar char="•"/>
              </a:pPr>
              <a:r>
                <a:rPr lang="en-US" b="true" sz="2834">
                  <a:solidFill>
                    <a:srgbClr val="0E9C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Sensors / Inputs</a:t>
              </a:r>
            </a:p>
            <a:p>
              <a:pPr algn="l" marL="611936" indent="-305968" lvl="1">
                <a:lnSpc>
                  <a:spcPts val="3968"/>
                </a:lnSpc>
                <a:buFont typeface="Arial"/>
                <a:buChar char="•"/>
              </a:pPr>
              <a:r>
                <a:rPr lang="en-US" b="true" sz="2834">
                  <a:solidFill>
                    <a:srgbClr val="0E9C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Processing unit (AI model, microcontroller, etc.)</a:t>
              </a:r>
            </a:p>
            <a:p>
              <a:pPr algn="l" marL="611936" indent="-305968" lvl="1">
                <a:lnSpc>
                  <a:spcPts val="3968"/>
                </a:lnSpc>
                <a:buFont typeface="Arial"/>
                <a:buChar char="•"/>
              </a:pPr>
              <a:r>
                <a:rPr lang="en-US" b="true" sz="2834">
                  <a:solidFill>
                    <a:srgbClr val="0E9C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B</a:t>
              </a:r>
              <a:r>
                <a:rPr lang="en-US" b="true" sz="2834">
                  <a:solidFill>
                    <a:srgbClr val="0E9C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ackend / Cloud</a:t>
              </a:r>
            </a:p>
            <a:p>
              <a:pPr algn="l" marL="611936" indent="-305968" lvl="1">
                <a:lnSpc>
                  <a:spcPts val="3968"/>
                </a:lnSpc>
                <a:buFont typeface="Arial"/>
                <a:buChar char="•"/>
              </a:pPr>
              <a:r>
                <a:rPr lang="en-US" b="true" sz="2834">
                  <a:solidFill>
                    <a:srgbClr val="0E9C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Output / User interface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1451248" y="765082"/>
              <a:ext cx="14530027" cy="7627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66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8520766" y="460313"/>
            <a:ext cx="3581729" cy="749827"/>
          </a:xfrm>
          <a:custGeom>
            <a:avLst/>
            <a:gdLst/>
            <a:ahLst/>
            <a:cxnLst/>
            <a:rect r="r" b="b" t="t" l="l"/>
            <a:pathLst>
              <a:path h="749827" w="3581729">
                <a:moveTo>
                  <a:pt x="0" y="0"/>
                </a:moveTo>
                <a:lnTo>
                  <a:pt x="3581729" y="0"/>
                </a:lnTo>
                <a:lnTo>
                  <a:pt x="3581729" y="749827"/>
                </a:lnTo>
                <a:lnTo>
                  <a:pt x="0" y="74982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6537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7133567" y="381546"/>
            <a:ext cx="1262988" cy="907361"/>
          </a:xfrm>
          <a:custGeom>
            <a:avLst/>
            <a:gdLst/>
            <a:ahLst/>
            <a:cxnLst/>
            <a:rect r="r" b="b" t="t" l="l"/>
            <a:pathLst>
              <a:path h="907361" w="1262988">
                <a:moveTo>
                  <a:pt x="0" y="0"/>
                </a:moveTo>
                <a:lnTo>
                  <a:pt x="1262988" y="0"/>
                </a:lnTo>
                <a:lnTo>
                  <a:pt x="1262988" y="907361"/>
                </a:lnTo>
                <a:lnTo>
                  <a:pt x="0" y="9073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9861" t="-90941" r="-55948" b="-95532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632428" y="0"/>
            <a:ext cx="1579652" cy="1579652"/>
          </a:xfrm>
          <a:custGeom>
            <a:avLst/>
            <a:gdLst/>
            <a:ahLst/>
            <a:cxnLst/>
            <a:rect r="r" b="b" t="t" l="l"/>
            <a:pathLst>
              <a:path h="1579652" w="1579652">
                <a:moveTo>
                  <a:pt x="0" y="0"/>
                </a:moveTo>
                <a:lnTo>
                  <a:pt x="1579652" y="0"/>
                </a:lnTo>
                <a:lnTo>
                  <a:pt x="1579652" y="1579652"/>
                </a:lnTo>
                <a:lnTo>
                  <a:pt x="0" y="15796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5474099" y="7374298"/>
            <a:ext cx="8743570" cy="5825403"/>
          </a:xfrm>
          <a:custGeom>
            <a:avLst/>
            <a:gdLst/>
            <a:ahLst/>
            <a:cxnLst/>
            <a:rect r="r" b="b" t="t" l="l"/>
            <a:pathLst>
              <a:path h="5825403" w="8743570">
                <a:moveTo>
                  <a:pt x="0" y="0"/>
                </a:moveTo>
                <a:lnTo>
                  <a:pt x="8743570" y="0"/>
                </a:lnTo>
                <a:lnTo>
                  <a:pt x="8743570" y="5825404"/>
                </a:lnTo>
                <a:lnTo>
                  <a:pt x="0" y="58254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true" flipV="false" rot="0">
            <a:off x="14947191" y="1339850"/>
            <a:ext cx="8743570" cy="5825403"/>
          </a:xfrm>
          <a:custGeom>
            <a:avLst/>
            <a:gdLst/>
            <a:ahLst/>
            <a:cxnLst/>
            <a:rect r="r" b="b" t="t" l="l"/>
            <a:pathLst>
              <a:path h="5825403" w="8743570">
                <a:moveTo>
                  <a:pt x="8743570" y="0"/>
                </a:moveTo>
                <a:lnTo>
                  <a:pt x="0" y="0"/>
                </a:lnTo>
                <a:lnTo>
                  <a:pt x="0" y="5825403"/>
                </a:lnTo>
                <a:lnTo>
                  <a:pt x="8743570" y="5825403"/>
                </a:lnTo>
                <a:lnTo>
                  <a:pt x="874357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</p:spTree>
  </p:cSld>
  <p:clrMapOvr>
    <a:masterClrMapping/>
  </p:clrMapOvr>
  <p:transition spd="slow">
    <p:fade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2A2A">
                <a:alpha val="100000"/>
              </a:srgbClr>
            </a:gs>
            <a:gs pos="100000">
              <a:srgbClr val="005959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650346" y="0"/>
            <a:ext cx="30938346" cy="10287000"/>
          </a:xfrm>
          <a:custGeom>
            <a:avLst/>
            <a:gdLst/>
            <a:ahLst/>
            <a:cxnLst/>
            <a:rect r="r" b="b" t="t" l="l"/>
            <a:pathLst>
              <a:path h="10287000" w="30938346">
                <a:moveTo>
                  <a:pt x="0" y="0"/>
                </a:moveTo>
                <a:lnTo>
                  <a:pt x="30938346" y="0"/>
                </a:lnTo>
                <a:lnTo>
                  <a:pt x="3093834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"/>
            </a:blip>
            <a:stretch>
              <a:fillRect l="0" t="0" r="0" b="0"/>
            </a:stretch>
          </a:blipFill>
        </p:spPr>
        <p:txBody>
          <a:bodyPr/>
          <a:p>
            <a:pPr>
              <a:defRPr sz="1800"/>
            </a:pPr>
            <a:r>
              <a:t>• Simulation: Custom Gymnasium env using orbital mechanics (Hohmann).</a:t>
            </a:r>
          </a:p>
          <a:p>
            <a:pPr>
              <a:defRPr sz="1800"/>
            </a:pPr>
            <a:r>
              <a:t>• RL: Stable-Baselines3 (PPO) for sampled trajectory optimization.</a:t>
            </a:r>
          </a:p>
          <a:p>
            <a:pPr>
              <a:defRPr sz="1800"/>
            </a:pPr>
            <a:r>
              <a:t>• RAG: FAISS vector store + LangChain indexing orbital safety protocols.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460168" y="2324063"/>
            <a:ext cx="11367663" cy="10597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70"/>
              </a:lnSpc>
            </a:pPr>
            <a:r>
              <a:rPr lang="en-US" sz="7970" b="true">
                <a:solidFill>
                  <a:srgbClr val="70E6D2"/>
                </a:solidFill>
                <a:latin typeface="Titillium Web Bold"/>
                <a:ea typeface="Titillium Web Bold"/>
                <a:cs typeface="Titillium Web Bold"/>
                <a:sym typeface="Titillium Web Bold"/>
              </a:rPr>
              <a:t>Technical Implementation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028700" y="597983"/>
            <a:ext cx="1794252" cy="596589"/>
          </a:xfrm>
          <a:custGeom>
            <a:avLst/>
            <a:gdLst/>
            <a:ahLst/>
            <a:cxnLst/>
            <a:rect r="r" b="b" t="t" l="l"/>
            <a:pathLst>
              <a:path h="596589" w="1794252">
                <a:moveTo>
                  <a:pt x="0" y="0"/>
                </a:moveTo>
                <a:lnTo>
                  <a:pt x="1794252" y="0"/>
                </a:lnTo>
                <a:lnTo>
                  <a:pt x="1794252" y="596588"/>
                </a:lnTo>
                <a:lnTo>
                  <a:pt x="0" y="5965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4282534" y="698500"/>
            <a:ext cx="2976766" cy="641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99"/>
              </a:lnSpc>
            </a:pPr>
            <a:r>
              <a:rPr lang="en-US" b="true" sz="1999" spc="-39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IEEE AESS Sustainabilty</a:t>
            </a:r>
          </a:p>
          <a:p>
            <a:pPr algn="r">
              <a:lnSpc>
                <a:spcPts val="2599"/>
              </a:lnSpc>
            </a:pPr>
            <a:r>
              <a:rPr lang="en-US" b="true" sz="1999" spc="-39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Hackathon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86366" y="4136211"/>
            <a:ext cx="12684551" cy="3444893"/>
            <a:chOff x="0" y="0"/>
            <a:chExt cx="16912734" cy="4593191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0"/>
              <a:ext cx="16912734" cy="4593191"/>
              <a:chOff x="0" y="0"/>
              <a:chExt cx="1926876" cy="523304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1926876" cy="523304"/>
              </a:xfrm>
              <a:custGeom>
                <a:avLst/>
                <a:gdLst/>
                <a:ahLst/>
                <a:cxnLst/>
                <a:rect r="r" b="b" t="t" l="l"/>
                <a:pathLst>
                  <a:path h="523304" w="1926876">
                    <a:moveTo>
                      <a:pt x="51560" y="0"/>
                    </a:moveTo>
                    <a:lnTo>
                      <a:pt x="1875316" y="0"/>
                    </a:lnTo>
                    <a:cubicBezTo>
                      <a:pt x="1903791" y="0"/>
                      <a:pt x="1926876" y="23084"/>
                      <a:pt x="1926876" y="51560"/>
                    </a:cubicBezTo>
                    <a:lnTo>
                      <a:pt x="1926876" y="471744"/>
                    </a:lnTo>
                    <a:cubicBezTo>
                      <a:pt x="1926876" y="500220"/>
                      <a:pt x="1903791" y="523304"/>
                      <a:pt x="1875316" y="523304"/>
                    </a:cubicBezTo>
                    <a:lnTo>
                      <a:pt x="51560" y="523304"/>
                    </a:lnTo>
                    <a:cubicBezTo>
                      <a:pt x="23084" y="523304"/>
                      <a:pt x="0" y="500220"/>
                      <a:pt x="0" y="471744"/>
                    </a:cubicBezTo>
                    <a:lnTo>
                      <a:pt x="0" y="51560"/>
                    </a:lnTo>
                    <a:cubicBezTo>
                      <a:pt x="0" y="23084"/>
                      <a:pt x="23084" y="0"/>
                      <a:pt x="515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rnd">
                <a:solidFill>
                  <a:srgbClr val="0E9C79"/>
                </a:solidFill>
                <a:prstDash val="solid"/>
                <a:round/>
              </a:ln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47625"/>
                <a:ext cx="1926876" cy="47567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134"/>
                  </a:lnSpc>
                </a:pPr>
              </a:p>
            </p:txBody>
          </p:sp>
        </p:grpSp>
        <p:sp>
          <p:nvSpPr>
            <p:cNvPr name="TextBox 10" id="10"/>
            <p:cNvSpPr txBox="true"/>
            <p:nvPr/>
          </p:nvSpPr>
          <p:spPr>
            <a:xfrm rot="0">
              <a:off x="723593" y="799417"/>
              <a:ext cx="14906954" cy="37937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591869" indent="-295935" lvl="1">
                <a:lnSpc>
                  <a:spcPts val="3837"/>
                </a:lnSpc>
                <a:buFont typeface="Arial"/>
                <a:buChar char="•"/>
              </a:pPr>
              <a:r>
                <a:rPr lang="en-US" b="true" sz="2741">
                  <a:solidFill>
                    <a:srgbClr val="0E9C79"/>
                  </a:solidFill>
                  <a:latin typeface="Open Sauce Heavy"/>
                  <a:ea typeface="Open Sauce Heavy"/>
                  <a:cs typeface="Open Sauce Heavy"/>
                  <a:sym typeface="Open Sauce Heavy"/>
                </a:rPr>
                <a:t>Technologies used (AI, IoT, embe</a:t>
              </a:r>
              <a:r>
                <a:rPr lang="en-US" b="true" sz="2741">
                  <a:solidFill>
                    <a:srgbClr val="0E9C79"/>
                  </a:solidFill>
                  <a:latin typeface="Open Sauce Heavy"/>
                  <a:ea typeface="Open Sauce Heavy"/>
                  <a:cs typeface="Open Sauce Heavy"/>
                  <a:sym typeface="Open Sauce Heavy"/>
                </a:rPr>
                <a:t>dded systems, apps, etc.)</a:t>
              </a:r>
            </a:p>
            <a:p>
              <a:pPr algn="l" marL="591869" indent="-295935" lvl="1">
                <a:lnSpc>
                  <a:spcPts val="3837"/>
                </a:lnSpc>
                <a:buFont typeface="Arial"/>
                <a:buChar char="•"/>
              </a:pPr>
              <a:r>
                <a:rPr lang="en-US" b="true" sz="2741">
                  <a:solidFill>
                    <a:srgbClr val="0E9C79"/>
                  </a:solidFill>
                  <a:latin typeface="Open Sauce Heavy"/>
                  <a:ea typeface="Open Sauce Heavy"/>
                  <a:cs typeface="Open Sauce Heavy"/>
                  <a:sym typeface="Open Sauce Heavy"/>
                </a:rPr>
                <a:t>Algorithms or models used (if any)</a:t>
              </a:r>
            </a:p>
            <a:p>
              <a:pPr algn="l" marL="591869" indent="-295935" lvl="1">
                <a:lnSpc>
                  <a:spcPts val="3837"/>
                </a:lnSpc>
                <a:buFont typeface="Arial"/>
                <a:buChar char="•"/>
              </a:pPr>
              <a:r>
                <a:rPr lang="en-US" b="true" sz="2741">
                  <a:solidFill>
                    <a:srgbClr val="0E9C79"/>
                  </a:solidFill>
                  <a:latin typeface="Open Sauce Heavy"/>
                  <a:ea typeface="Open Sauce Heavy"/>
                  <a:cs typeface="Open Sauce Heavy"/>
                  <a:sym typeface="Open Sauce Heavy"/>
                </a:rPr>
                <a:t>Hardware specs (if relevant)</a:t>
              </a:r>
            </a:p>
            <a:p>
              <a:pPr algn="l" marL="591869" indent="-295935" lvl="1">
                <a:lnSpc>
                  <a:spcPts val="3837"/>
                </a:lnSpc>
                <a:buFont typeface="Arial"/>
                <a:buChar char="•"/>
              </a:pPr>
              <a:r>
                <a:rPr lang="en-US" b="true" sz="2741">
                  <a:solidFill>
                    <a:srgbClr val="0E9C79"/>
                  </a:solidFill>
                  <a:latin typeface="Open Sauce Heavy"/>
                  <a:ea typeface="Open Sauce Heavy"/>
                  <a:cs typeface="Open Sauce Heavy"/>
                  <a:sym typeface="Open Sauce Heavy"/>
                </a:rPr>
                <a:t>Communication protocols (MQTT,</a:t>
              </a:r>
              <a:r>
                <a:rPr lang="en-US" b="true" sz="2741">
                  <a:solidFill>
                    <a:srgbClr val="0E9C79"/>
                  </a:solidFill>
                  <a:latin typeface="Open Sauce Heavy"/>
                  <a:ea typeface="Open Sauce Heavy"/>
                  <a:cs typeface="Open Sauce Heavy"/>
                  <a:sym typeface="Open Sauce Heavy"/>
                </a:rPr>
                <a:t> HTTP, etc.)</a:t>
              </a:r>
            </a:p>
            <a:p>
              <a:pPr algn="l">
                <a:lnSpc>
                  <a:spcPts val="3837"/>
                </a:lnSpc>
              </a:pPr>
            </a:p>
            <a:p>
              <a:pPr algn="l">
                <a:lnSpc>
                  <a:spcPts val="3837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8520766" y="460313"/>
            <a:ext cx="3581729" cy="749827"/>
          </a:xfrm>
          <a:custGeom>
            <a:avLst/>
            <a:gdLst/>
            <a:ahLst/>
            <a:cxnLst/>
            <a:rect r="r" b="b" t="t" l="l"/>
            <a:pathLst>
              <a:path h="749827" w="3581729">
                <a:moveTo>
                  <a:pt x="0" y="0"/>
                </a:moveTo>
                <a:lnTo>
                  <a:pt x="3581729" y="0"/>
                </a:lnTo>
                <a:lnTo>
                  <a:pt x="3581729" y="749827"/>
                </a:lnTo>
                <a:lnTo>
                  <a:pt x="0" y="74982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6537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7133567" y="381546"/>
            <a:ext cx="1262988" cy="907361"/>
          </a:xfrm>
          <a:custGeom>
            <a:avLst/>
            <a:gdLst/>
            <a:ahLst/>
            <a:cxnLst/>
            <a:rect r="r" b="b" t="t" l="l"/>
            <a:pathLst>
              <a:path h="907361" w="1262988">
                <a:moveTo>
                  <a:pt x="0" y="0"/>
                </a:moveTo>
                <a:lnTo>
                  <a:pt x="1262988" y="0"/>
                </a:lnTo>
                <a:lnTo>
                  <a:pt x="1262988" y="907361"/>
                </a:lnTo>
                <a:lnTo>
                  <a:pt x="0" y="9073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9861" t="-90941" r="-55948" b="-95532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5632428" y="0"/>
            <a:ext cx="1579652" cy="1579652"/>
          </a:xfrm>
          <a:custGeom>
            <a:avLst/>
            <a:gdLst/>
            <a:ahLst/>
            <a:cxnLst/>
            <a:rect r="r" b="b" t="t" l="l"/>
            <a:pathLst>
              <a:path h="1579652" w="1579652">
                <a:moveTo>
                  <a:pt x="0" y="0"/>
                </a:moveTo>
                <a:lnTo>
                  <a:pt x="1579652" y="0"/>
                </a:lnTo>
                <a:lnTo>
                  <a:pt x="1579652" y="1579652"/>
                </a:lnTo>
                <a:lnTo>
                  <a:pt x="0" y="15796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true" flipV="false" rot="0">
            <a:off x="0" y="6906273"/>
            <a:ext cx="8743570" cy="5825403"/>
          </a:xfrm>
          <a:custGeom>
            <a:avLst/>
            <a:gdLst/>
            <a:ahLst/>
            <a:cxnLst/>
            <a:rect r="r" b="b" t="t" l="l"/>
            <a:pathLst>
              <a:path h="5825403" w="8743570">
                <a:moveTo>
                  <a:pt x="8743570" y="0"/>
                </a:moveTo>
                <a:lnTo>
                  <a:pt x="0" y="0"/>
                </a:lnTo>
                <a:lnTo>
                  <a:pt x="0" y="5825403"/>
                </a:lnTo>
                <a:lnTo>
                  <a:pt x="8743570" y="5825403"/>
                </a:lnTo>
                <a:lnTo>
                  <a:pt x="874357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</p:spTree>
  </p:cSld>
  <p:clrMapOvr>
    <a:masterClrMapping/>
  </p:clrMapOvr>
  <p:transition spd="slow">
    <p:fade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2A2A">
                <a:alpha val="100000"/>
              </a:srgbClr>
            </a:gs>
            <a:gs pos="100000">
              <a:srgbClr val="005959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650346" y="0"/>
            <a:ext cx="30938346" cy="10287000"/>
          </a:xfrm>
          <a:custGeom>
            <a:avLst/>
            <a:gdLst/>
            <a:ahLst/>
            <a:cxnLst/>
            <a:rect r="r" b="b" t="t" l="l"/>
            <a:pathLst>
              <a:path h="10287000" w="30938346">
                <a:moveTo>
                  <a:pt x="0" y="0"/>
                </a:moveTo>
                <a:lnTo>
                  <a:pt x="30938346" y="0"/>
                </a:lnTo>
                <a:lnTo>
                  <a:pt x="3093834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"/>
            </a:blip>
            <a:stretch>
              <a:fillRect l="0" t="0" r="0" b="0"/>
            </a:stretch>
          </a:blipFill>
        </p:spPr>
        <p:txBody>
          <a:bodyPr/>
          <a:p>
            <a:pPr>
              <a:defRPr sz="1800"/>
            </a:pPr>
            <a:r>
              <a:t>• Fuel Efficiency: RL Agent is 25% more efficient (m/s per target) than random.</a:t>
            </a:r>
          </a:p>
          <a:p>
            <a:pPr>
              <a:defRPr sz="1800"/>
            </a:pPr>
            <a:r>
              <a:t>• Operational Fallback: Greedy Nearest-Neighbor ensures mission success.</a:t>
            </a:r>
          </a:p>
          <a:p>
            <a:pPr>
              <a:defRPr sz="1800"/>
            </a:pPr>
            <a:r>
              <a:t>• Success: 1,043 m/s avg Delta-V achieved for complex LEO clusters.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911705" y="2284365"/>
            <a:ext cx="12958825" cy="989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470"/>
              </a:lnSpc>
            </a:pPr>
            <a:r>
              <a:rPr lang="en-US" sz="7470" b="true">
                <a:solidFill>
                  <a:srgbClr val="70E6D2"/>
                </a:solidFill>
                <a:latin typeface="Titillium Web Bold"/>
                <a:ea typeface="Titillium Web Bold"/>
                <a:cs typeface="Titillium Web Bold"/>
                <a:sym typeface="Titillium Web Bold"/>
              </a:rPr>
              <a:t> Results / Prototype / Demo : 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028700" y="597983"/>
            <a:ext cx="1794252" cy="596589"/>
          </a:xfrm>
          <a:custGeom>
            <a:avLst/>
            <a:gdLst/>
            <a:ahLst/>
            <a:cxnLst/>
            <a:rect r="r" b="b" t="t" l="l"/>
            <a:pathLst>
              <a:path h="596589" w="1794252">
                <a:moveTo>
                  <a:pt x="0" y="0"/>
                </a:moveTo>
                <a:lnTo>
                  <a:pt x="1794252" y="0"/>
                </a:lnTo>
                <a:lnTo>
                  <a:pt x="1794252" y="596588"/>
                </a:lnTo>
                <a:lnTo>
                  <a:pt x="0" y="5965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4282534" y="698500"/>
            <a:ext cx="2976766" cy="641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99"/>
              </a:lnSpc>
            </a:pPr>
            <a:r>
              <a:rPr lang="en-US" b="true" sz="1999" spc="-39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IEEE AESS Sustainabilty</a:t>
            </a:r>
          </a:p>
          <a:p>
            <a:pPr algn="r">
              <a:lnSpc>
                <a:spcPts val="2599"/>
              </a:lnSpc>
            </a:pPr>
            <a:r>
              <a:rPr lang="en-US" b="true" sz="1999" spc="-39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Hackathon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36712" y="4075866"/>
            <a:ext cx="15908812" cy="3203150"/>
            <a:chOff x="0" y="0"/>
            <a:chExt cx="21211749" cy="4270867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0"/>
              <a:ext cx="21211749" cy="4270867"/>
              <a:chOff x="0" y="0"/>
              <a:chExt cx="2287655" cy="460607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2287655" cy="460607"/>
              </a:xfrm>
              <a:custGeom>
                <a:avLst/>
                <a:gdLst/>
                <a:ahLst/>
                <a:cxnLst/>
                <a:rect r="r" b="b" t="t" l="l"/>
                <a:pathLst>
                  <a:path h="460607" w="2287655">
                    <a:moveTo>
                      <a:pt x="48035" y="0"/>
                    </a:moveTo>
                    <a:lnTo>
                      <a:pt x="2239620" y="0"/>
                    </a:lnTo>
                    <a:cubicBezTo>
                      <a:pt x="2252360" y="0"/>
                      <a:pt x="2264578" y="5061"/>
                      <a:pt x="2273586" y="14069"/>
                    </a:cubicBezTo>
                    <a:cubicBezTo>
                      <a:pt x="2282594" y="23077"/>
                      <a:pt x="2287655" y="35295"/>
                      <a:pt x="2287655" y="48035"/>
                    </a:cubicBezTo>
                    <a:lnTo>
                      <a:pt x="2287655" y="412572"/>
                    </a:lnTo>
                    <a:cubicBezTo>
                      <a:pt x="2287655" y="425311"/>
                      <a:pt x="2282594" y="437529"/>
                      <a:pt x="2273586" y="446538"/>
                    </a:cubicBezTo>
                    <a:cubicBezTo>
                      <a:pt x="2264578" y="455546"/>
                      <a:pt x="2252360" y="460607"/>
                      <a:pt x="2239620" y="460607"/>
                    </a:cubicBezTo>
                    <a:lnTo>
                      <a:pt x="48035" y="460607"/>
                    </a:lnTo>
                    <a:cubicBezTo>
                      <a:pt x="35295" y="460607"/>
                      <a:pt x="23077" y="455546"/>
                      <a:pt x="14069" y="446538"/>
                    </a:cubicBezTo>
                    <a:cubicBezTo>
                      <a:pt x="5061" y="437529"/>
                      <a:pt x="0" y="425311"/>
                      <a:pt x="0" y="412572"/>
                    </a:cubicBezTo>
                    <a:lnTo>
                      <a:pt x="0" y="48035"/>
                    </a:lnTo>
                    <a:cubicBezTo>
                      <a:pt x="0" y="35295"/>
                      <a:pt x="5061" y="23077"/>
                      <a:pt x="14069" y="14069"/>
                    </a:cubicBezTo>
                    <a:cubicBezTo>
                      <a:pt x="23077" y="5061"/>
                      <a:pt x="35295" y="0"/>
                      <a:pt x="48035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rnd">
                <a:solidFill>
                  <a:srgbClr val="0E9C79"/>
                </a:solidFill>
                <a:prstDash val="solid"/>
                <a:round/>
              </a:ln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47625"/>
                <a:ext cx="2287655" cy="41298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134"/>
                  </a:lnSpc>
                </a:pPr>
              </a:p>
            </p:txBody>
          </p:sp>
        </p:grpSp>
        <p:sp>
          <p:nvSpPr>
            <p:cNvPr name="TextBox 10" id="10"/>
            <p:cNvSpPr txBox="true"/>
            <p:nvPr/>
          </p:nvSpPr>
          <p:spPr>
            <a:xfrm rot="0">
              <a:off x="1691430" y="1035402"/>
              <a:ext cx="16510927" cy="213338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669288" indent="-334644" lvl="1">
                <a:lnSpc>
                  <a:spcPts val="4339"/>
                </a:lnSpc>
                <a:buFont typeface="Arial"/>
                <a:buChar char="•"/>
              </a:pPr>
              <a:r>
                <a:rPr lang="en-US" b="true" sz="3099">
                  <a:solidFill>
                    <a:srgbClr val="0E9C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Screens</a:t>
              </a:r>
              <a:r>
                <a:rPr lang="en-US" b="true" sz="3099">
                  <a:solidFill>
                    <a:srgbClr val="0E9C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hots / demo images / graphs</a:t>
              </a:r>
            </a:p>
            <a:p>
              <a:pPr algn="l" marL="669288" indent="-334644" lvl="1">
                <a:lnSpc>
                  <a:spcPts val="4339"/>
                </a:lnSpc>
                <a:buFont typeface="Arial"/>
                <a:buChar char="•"/>
              </a:pPr>
              <a:r>
                <a:rPr lang="en-US" b="true" sz="3099">
                  <a:solidFill>
                    <a:srgbClr val="0E9C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Performance (accuracy, latency, etc. if available)</a:t>
              </a:r>
            </a:p>
            <a:p>
              <a:pPr algn="l" marL="669288" indent="-334644" lvl="1">
                <a:lnSpc>
                  <a:spcPts val="4339"/>
                </a:lnSpc>
                <a:buFont typeface="Arial"/>
                <a:buChar char="•"/>
              </a:pPr>
              <a:r>
                <a:rPr lang="en-US" b="true" sz="3099">
                  <a:solidFill>
                    <a:srgbClr val="0E9C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If no full prototype → show simulation or design progress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8520766" y="460313"/>
            <a:ext cx="3581729" cy="749827"/>
          </a:xfrm>
          <a:custGeom>
            <a:avLst/>
            <a:gdLst/>
            <a:ahLst/>
            <a:cxnLst/>
            <a:rect r="r" b="b" t="t" l="l"/>
            <a:pathLst>
              <a:path h="749827" w="3581729">
                <a:moveTo>
                  <a:pt x="0" y="0"/>
                </a:moveTo>
                <a:lnTo>
                  <a:pt x="3581729" y="0"/>
                </a:lnTo>
                <a:lnTo>
                  <a:pt x="3581729" y="749827"/>
                </a:lnTo>
                <a:lnTo>
                  <a:pt x="0" y="74982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6537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7133567" y="381546"/>
            <a:ext cx="1262988" cy="907361"/>
          </a:xfrm>
          <a:custGeom>
            <a:avLst/>
            <a:gdLst/>
            <a:ahLst/>
            <a:cxnLst/>
            <a:rect r="r" b="b" t="t" l="l"/>
            <a:pathLst>
              <a:path h="907361" w="1262988">
                <a:moveTo>
                  <a:pt x="0" y="0"/>
                </a:moveTo>
                <a:lnTo>
                  <a:pt x="1262988" y="0"/>
                </a:lnTo>
                <a:lnTo>
                  <a:pt x="1262988" y="907361"/>
                </a:lnTo>
                <a:lnTo>
                  <a:pt x="0" y="9073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9861" t="-90941" r="-55948" b="-95532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5632428" y="0"/>
            <a:ext cx="1579652" cy="1579652"/>
          </a:xfrm>
          <a:custGeom>
            <a:avLst/>
            <a:gdLst/>
            <a:ahLst/>
            <a:cxnLst/>
            <a:rect r="r" b="b" t="t" l="l"/>
            <a:pathLst>
              <a:path h="1579652" w="1579652">
                <a:moveTo>
                  <a:pt x="0" y="0"/>
                </a:moveTo>
                <a:lnTo>
                  <a:pt x="1579652" y="0"/>
                </a:lnTo>
                <a:lnTo>
                  <a:pt x="1579652" y="1579652"/>
                </a:lnTo>
                <a:lnTo>
                  <a:pt x="0" y="15796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  <p:transition spd="slow">
    <p:fade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2A2A">
                <a:alpha val="100000"/>
              </a:srgbClr>
            </a:gs>
            <a:gs pos="100000">
              <a:srgbClr val="005959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650346" y="0"/>
            <a:ext cx="30938346" cy="10287000"/>
          </a:xfrm>
          <a:custGeom>
            <a:avLst/>
            <a:gdLst/>
            <a:ahLst/>
            <a:cxnLst/>
            <a:rect r="r" b="b" t="t" l="l"/>
            <a:pathLst>
              <a:path h="10287000" w="30938346">
                <a:moveTo>
                  <a:pt x="0" y="0"/>
                </a:moveTo>
                <a:lnTo>
                  <a:pt x="30938346" y="0"/>
                </a:lnTo>
                <a:lnTo>
                  <a:pt x="3093834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"/>
            </a:blip>
            <a:stretch>
              <a:fillRect l="0" t="0" r="0" b="0"/>
            </a:stretch>
          </a:blipFill>
        </p:spPr>
        <p:txBody>
          <a:bodyPr/>
          <a:p>
            <a:pPr>
              <a:defRPr sz="1800"/>
            </a:pPr>
            <a:r>
              <a:t>• Ecological: Mitigates collision risk to maintain LEO usability.</a:t>
            </a:r>
          </a:p>
          <a:p>
            <a:pPr>
              <a:defRPr sz="1800"/>
            </a:pPr>
            <a:r>
              <a:t>• Economic: Extends robotic removal spacecraft service life.</a:t>
            </a:r>
          </a:p>
          <a:p>
            <a:pPr>
              <a:defRPr sz="1800"/>
            </a:pPr>
            <a:r>
              <a:t>• Social: Safeguards global satellite infrastructure (GPS, Weather).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4656607" y="2324271"/>
            <a:ext cx="8059795" cy="989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470"/>
              </a:lnSpc>
            </a:pPr>
            <a:r>
              <a:rPr lang="en-US" sz="7470" b="true">
                <a:solidFill>
                  <a:srgbClr val="70E6D2"/>
                </a:solidFill>
                <a:latin typeface="Titillium Web Bold"/>
                <a:ea typeface="Titillium Web Bold"/>
                <a:cs typeface="Titillium Web Bold"/>
                <a:sym typeface="Titillium Web Bold"/>
              </a:rPr>
              <a:t>Impact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028700" y="597983"/>
            <a:ext cx="1794252" cy="596589"/>
          </a:xfrm>
          <a:custGeom>
            <a:avLst/>
            <a:gdLst/>
            <a:ahLst/>
            <a:cxnLst/>
            <a:rect r="r" b="b" t="t" l="l"/>
            <a:pathLst>
              <a:path h="596589" w="1794252">
                <a:moveTo>
                  <a:pt x="0" y="0"/>
                </a:moveTo>
                <a:lnTo>
                  <a:pt x="1794252" y="0"/>
                </a:lnTo>
                <a:lnTo>
                  <a:pt x="1794252" y="596588"/>
                </a:lnTo>
                <a:lnTo>
                  <a:pt x="0" y="5965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4282534" y="698500"/>
            <a:ext cx="2976766" cy="641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99"/>
              </a:lnSpc>
            </a:pPr>
            <a:r>
              <a:rPr lang="en-US" b="true" sz="1999" spc="-39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IEEE AESS Sustainabilty</a:t>
            </a:r>
          </a:p>
          <a:p>
            <a:pPr algn="r">
              <a:lnSpc>
                <a:spcPts val="2599"/>
              </a:lnSpc>
            </a:pPr>
            <a:r>
              <a:rPr lang="en-US" b="true" sz="1999" spc="-39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Hackathon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8520766" y="460313"/>
            <a:ext cx="3581729" cy="749827"/>
          </a:xfrm>
          <a:custGeom>
            <a:avLst/>
            <a:gdLst/>
            <a:ahLst/>
            <a:cxnLst/>
            <a:rect r="r" b="b" t="t" l="l"/>
            <a:pathLst>
              <a:path h="749827" w="3581729">
                <a:moveTo>
                  <a:pt x="0" y="0"/>
                </a:moveTo>
                <a:lnTo>
                  <a:pt x="3581729" y="0"/>
                </a:lnTo>
                <a:lnTo>
                  <a:pt x="3581729" y="749827"/>
                </a:lnTo>
                <a:lnTo>
                  <a:pt x="0" y="74982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6537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7133567" y="381546"/>
            <a:ext cx="1262988" cy="907361"/>
          </a:xfrm>
          <a:custGeom>
            <a:avLst/>
            <a:gdLst/>
            <a:ahLst/>
            <a:cxnLst/>
            <a:rect r="r" b="b" t="t" l="l"/>
            <a:pathLst>
              <a:path h="907361" w="1262988">
                <a:moveTo>
                  <a:pt x="0" y="0"/>
                </a:moveTo>
                <a:lnTo>
                  <a:pt x="1262988" y="0"/>
                </a:lnTo>
                <a:lnTo>
                  <a:pt x="1262988" y="907361"/>
                </a:lnTo>
                <a:lnTo>
                  <a:pt x="0" y="9073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9861" t="-90941" r="-55948" b="-95532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5632428" y="0"/>
            <a:ext cx="1579652" cy="1579652"/>
          </a:xfrm>
          <a:custGeom>
            <a:avLst/>
            <a:gdLst/>
            <a:ahLst/>
            <a:cxnLst/>
            <a:rect r="r" b="b" t="t" l="l"/>
            <a:pathLst>
              <a:path h="1579652" w="1579652">
                <a:moveTo>
                  <a:pt x="0" y="0"/>
                </a:moveTo>
                <a:lnTo>
                  <a:pt x="1579652" y="0"/>
                </a:lnTo>
                <a:lnTo>
                  <a:pt x="1579652" y="1579652"/>
                </a:lnTo>
                <a:lnTo>
                  <a:pt x="0" y="15796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  <p:transition spd="slow">
    <p:fade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2A2A">
                <a:alpha val="100000"/>
              </a:srgbClr>
            </a:gs>
            <a:gs pos="100000">
              <a:srgbClr val="005959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650346" y="0"/>
            <a:ext cx="30938346" cy="10287000"/>
          </a:xfrm>
          <a:custGeom>
            <a:avLst/>
            <a:gdLst/>
            <a:ahLst/>
            <a:cxnLst/>
            <a:rect r="r" b="b" t="t" l="l"/>
            <a:pathLst>
              <a:path h="10287000" w="30938346">
                <a:moveTo>
                  <a:pt x="0" y="0"/>
                </a:moveTo>
                <a:lnTo>
                  <a:pt x="30938346" y="0"/>
                </a:lnTo>
                <a:lnTo>
                  <a:pt x="3093834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"/>
            </a:blip>
            <a:stretch>
              <a:fillRect l="0" t="0" r="0" b="0"/>
            </a:stretch>
          </a:blipFill>
        </p:spPr>
        <p:txBody>
          <a:bodyPr/>
          <a:p>
            <a:pPr>
              <a:defRPr sz="1800"/>
            </a:pPr>
            <a:r>
              <a:t>• SDG 9: Innovation in orbital management technology.</a:t>
            </a:r>
          </a:p>
          <a:p>
            <a:pPr>
              <a:defRPr sz="1800"/>
            </a:pPr>
            <a:r>
              <a:t>• SDG 12: Responsible orbital usage and waste reduction.</a:t>
            </a:r>
          </a:p>
          <a:p>
            <a:pPr>
              <a:defRPr sz="1800"/>
            </a:pPr>
            <a:r>
              <a:t>• SDG 17: Alignment with international space safety standards (IADC).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028700" y="597983"/>
            <a:ext cx="1794252" cy="596589"/>
          </a:xfrm>
          <a:custGeom>
            <a:avLst/>
            <a:gdLst/>
            <a:ahLst/>
            <a:cxnLst/>
            <a:rect r="r" b="b" t="t" l="l"/>
            <a:pathLst>
              <a:path h="596589" w="1794252">
                <a:moveTo>
                  <a:pt x="0" y="0"/>
                </a:moveTo>
                <a:lnTo>
                  <a:pt x="1794252" y="0"/>
                </a:lnTo>
                <a:lnTo>
                  <a:pt x="1794252" y="596588"/>
                </a:lnTo>
                <a:lnTo>
                  <a:pt x="0" y="5965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1224487" y="1722885"/>
            <a:ext cx="6116094" cy="4159258"/>
          </a:xfrm>
          <a:custGeom>
            <a:avLst/>
            <a:gdLst/>
            <a:ahLst/>
            <a:cxnLst/>
            <a:rect r="r" b="b" t="t" l="l"/>
            <a:pathLst>
              <a:path h="4159258" w="6116094">
                <a:moveTo>
                  <a:pt x="0" y="0"/>
                </a:moveTo>
                <a:lnTo>
                  <a:pt x="6116094" y="0"/>
                </a:lnTo>
                <a:lnTo>
                  <a:pt x="6116094" y="4159258"/>
                </a:lnTo>
                <a:lnTo>
                  <a:pt x="0" y="41592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67870" r="-97505" b="-44063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1532529" y="5529398"/>
            <a:ext cx="5808052" cy="4159258"/>
          </a:xfrm>
          <a:custGeom>
            <a:avLst/>
            <a:gdLst/>
            <a:ahLst/>
            <a:cxnLst/>
            <a:rect r="r" b="b" t="t" l="l"/>
            <a:pathLst>
              <a:path h="4159258" w="5808052">
                <a:moveTo>
                  <a:pt x="0" y="0"/>
                </a:moveTo>
                <a:lnTo>
                  <a:pt x="5808052" y="0"/>
                </a:lnTo>
                <a:lnTo>
                  <a:pt x="5808052" y="4159258"/>
                </a:lnTo>
                <a:lnTo>
                  <a:pt x="0" y="41592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04192" t="-69986" r="-3788" b="-41947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436951" y="5455225"/>
            <a:ext cx="9218989" cy="3208338"/>
            <a:chOff x="0" y="0"/>
            <a:chExt cx="12291986" cy="4277783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0"/>
              <a:ext cx="12291986" cy="4277783"/>
              <a:chOff x="0" y="0"/>
              <a:chExt cx="1651617" cy="574786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1651617" cy="574786"/>
              </a:xfrm>
              <a:custGeom>
                <a:avLst/>
                <a:gdLst/>
                <a:ahLst/>
                <a:cxnLst/>
                <a:rect r="r" b="b" t="t" l="l"/>
                <a:pathLst>
                  <a:path h="574786" w="1651617">
                    <a:moveTo>
                      <a:pt x="38630" y="0"/>
                    </a:moveTo>
                    <a:lnTo>
                      <a:pt x="1612987" y="0"/>
                    </a:lnTo>
                    <a:cubicBezTo>
                      <a:pt x="1634322" y="0"/>
                      <a:pt x="1651617" y="17295"/>
                      <a:pt x="1651617" y="38630"/>
                    </a:cubicBezTo>
                    <a:lnTo>
                      <a:pt x="1651617" y="536156"/>
                    </a:lnTo>
                    <a:cubicBezTo>
                      <a:pt x="1651617" y="546401"/>
                      <a:pt x="1647547" y="556227"/>
                      <a:pt x="1640303" y="563471"/>
                    </a:cubicBezTo>
                    <a:cubicBezTo>
                      <a:pt x="1633058" y="570716"/>
                      <a:pt x="1623232" y="574786"/>
                      <a:pt x="1612987" y="574786"/>
                    </a:cubicBezTo>
                    <a:lnTo>
                      <a:pt x="38630" y="574786"/>
                    </a:lnTo>
                    <a:cubicBezTo>
                      <a:pt x="28385" y="574786"/>
                      <a:pt x="18559" y="570716"/>
                      <a:pt x="11314" y="563471"/>
                    </a:cubicBezTo>
                    <a:cubicBezTo>
                      <a:pt x="4070" y="556227"/>
                      <a:pt x="0" y="546401"/>
                      <a:pt x="0" y="536156"/>
                    </a:cubicBezTo>
                    <a:lnTo>
                      <a:pt x="0" y="38630"/>
                    </a:lnTo>
                    <a:cubicBezTo>
                      <a:pt x="0" y="28385"/>
                      <a:pt x="4070" y="18559"/>
                      <a:pt x="11314" y="11314"/>
                    </a:cubicBezTo>
                    <a:cubicBezTo>
                      <a:pt x="18559" y="4070"/>
                      <a:pt x="28385" y="0"/>
                      <a:pt x="3863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rnd">
                <a:solidFill>
                  <a:srgbClr val="0E9C79"/>
                </a:solidFill>
                <a:prstDash val="solid"/>
                <a:round/>
              </a:ln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47625"/>
                <a:ext cx="1651617" cy="527161"/>
              </a:xfrm>
              <a:prstGeom prst="rect">
                <a:avLst/>
              </a:prstGeom>
            </p:spPr>
            <p:txBody>
              <a:bodyPr anchor="ctr" rtlCol="false" tIns="55133" lIns="55133" bIns="55133" rIns="55133"/>
              <a:lstStyle/>
              <a:p>
                <a:pPr algn="ctr">
                  <a:lnSpc>
                    <a:spcPts val="1134"/>
                  </a:lnSpc>
                </a:pPr>
              </a:p>
            </p:txBody>
          </p:sp>
        </p:grpSp>
        <p:sp>
          <p:nvSpPr>
            <p:cNvPr name="TextBox 10" id="10"/>
            <p:cNvSpPr txBox="true"/>
            <p:nvPr/>
          </p:nvSpPr>
          <p:spPr>
            <a:xfrm rot="0">
              <a:off x="1207621" y="502677"/>
              <a:ext cx="9876743" cy="312002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573893" indent="-286946" lvl="1">
                <a:lnSpc>
                  <a:spcPts val="4864"/>
                </a:lnSpc>
                <a:buFont typeface="Arial"/>
                <a:buChar char="•"/>
              </a:pPr>
              <a:r>
                <a:rPr lang="en-US" b="true" sz="2658">
                  <a:solidFill>
                    <a:srgbClr val="0E9C79"/>
                  </a:solidFill>
                  <a:latin typeface="Open Sauce Heavy"/>
                  <a:ea typeface="Open Sauce Heavy"/>
                  <a:cs typeface="Open Sauce Heavy"/>
                  <a:sym typeface="Open Sauce Heavy"/>
                </a:rPr>
                <a:t>Which UN SDG(s) are you targeting?</a:t>
              </a:r>
            </a:p>
            <a:p>
              <a:pPr algn="l" marL="573893" indent="-286946" lvl="1">
                <a:lnSpc>
                  <a:spcPts val="4864"/>
                </a:lnSpc>
                <a:buFont typeface="Arial"/>
                <a:buChar char="•"/>
              </a:pPr>
              <a:r>
                <a:rPr lang="en-US" b="true" sz="2658">
                  <a:solidFill>
                    <a:srgbClr val="0E9C79"/>
                  </a:solidFill>
                  <a:latin typeface="Open Sauce Heavy"/>
                  <a:ea typeface="Open Sauce Heavy"/>
                  <a:cs typeface="Open Sauce Heavy"/>
                  <a:sym typeface="Open Sauce Heavy"/>
                </a:rPr>
                <a:t>Why this SDG?</a:t>
              </a:r>
            </a:p>
            <a:p>
              <a:pPr algn="l" marL="573893" indent="-286946" lvl="1">
                <a:lnSpc>
                  <a:spcPts val="4864"/>
                </a:lnSpc>
                <a:buFont typeface="Arial"/>
                <a:buChar char="•"/>
              </a:pPr>
              <a:r>
                <a:rPr lang="en-US" b="true" sz="2658">
                  <a:solidFill>
                    <a:srgbClr val="0E9C79"/>
                  </a:solidFill>
                  <a:latin typeface="Open Sauce Heavy"/>
                  <a:ea typeface="Open Sauce Heavy"/>
                  <a:cs typeface="Open Sauce Heavy"/>
                  <a:sym typeface="Open Sauce Heavy"/>
                </a:rPr>
                <a:t>How your project contributes to it</a:t>
              </a:r>
            </a:p>
            <a:p>
              <a:pPr algn="l" marL="573893" indent="-286946" lvl="1">
                <a:lnSpc>
                  <a:spcPts val="4864"/>
                </a:lnSpc>
                <a:buFont typeface="Arial"/>
                <a:buChar char="•"/>
              </a:pPr>
              <a:r>
                <a:rPr lang="en-US" b="true" sz="2658">
                  <a:solidFill>
                    <a:srgbClr val="0E9C79"/>
                  </a:solidFill>
                  <a:latin typeface="Open Sauce Heavy"/>
                  <a:ea typeface="Open Sauce Heavy"/>
                  <a:cs typeface="Open Sauce Heavy"/>
                  <a:sym typeface="Open Sauce Heavy"/>
                </a:rPr>
                <a:t>Include: SDG number + name + photo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440510" y="3096088"/>
            <a:ext cx="7467090" cy="989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470"/>
              </a:lnSpc>
            </a:pPr>
            <a:r>
              <a:rPr lang="en-US" sz="7470" b="true">
                <a:solidFill>
                  <a:srgbClr val="70E6D2"/>
                </a:solidFill>
                <a:latin typeface="Titillium Web Bold"/>
                <a:ea typeface="Titillium Web Bold"/>
                <a:cs typeface="Titillium Web Bold"/>
                <a:sym typeface="Titillium Web Bold"/>
              </a:rPr>
              <a:t>SDG Alignment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4282534" y="698500"/>
            <a:ext cx="2976766" cy="641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99"/>
              </a:lnSpc>
            </a:pPr>
            <a:r>
              <a:rPr lang="en-US" b="true" sz="1999" spc="-39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IEEE AESS Sustainabilty</a:t>
            </a:r>
          </a:p>
          <a:p>
            <a:pPr algn="r">
              <a:lnSpc>
                <a:spcPts val="2599"/>
              </a:lnSpc>
            </a:pPr>
            <a:r>
              <a:rPr lang="en-US" b="true" sz="1999" spc="-39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Hackathon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8520766" y="460313"/>
            <a:ext cx="3581729" cy="749827"/>
          </a:xfrm>
          <a:custGeom>
            <a:avLst/>
            <a:gdLst/>
            <a:ahLst/>
            <a:cxnLst/>
            <a:rect r="r" b="b" t="t" l="l"/>
            <a:pathLst>
              <a:path h="749827" w="3581729">
                <a:moveTo>
                  <a:pt x="0" y="0"/>
                </a:moveTo>
                <a:lnTo>
                  <a:pt x="3581729" y="0"/>
                </a:lnTo>
                <a:lnTo>
                  <a:pt x="3581729" y="749827"/>
                </a:lnTo>
                <a:lnTo>
                  <a:pt x="0" y="7498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36537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7133567" y="381546"/>
            <a:ext cx="1262988" cy="907361"/>
          </a:xfrm>
          <a:custGeom>
            <a:avLst/>
            <a:gdLst/>
            <a:ahLst/>
            <a:cxnLst/>
            <a:rect r="r" b="b" t="t" l="l"/>
            <a:pathLst>
              <a:path h="907361" w="1262988">
                <a:moveTo>
                  <a:pt x="0" y="0"/>
                </a:moveTo>
                <a:lnTo>
                  <a:pt x="1262988" y="0"/>
                </a:lnTo>
                <a:lnTo>
                  <a:pt x="1262988" y="907361"/>
                </a:lnTo>
                <a:lnTo>
                  <a:pt x="0" y="90736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49861" t="-90941" r="-55948" b="-95532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5632428" y="0"/>
            <a:ext cx="1579652" cy="1579652"/>
          </a:xfrm>
          <a:custGeom>
            <a:avLst/>
            <a:gdLst/>
            <a:ahLst/>
            <a:cxnLst/>
            <a:rect r="r" b="b" t="t" l="l"/>
            <a:pathLst>
              <a:path h="1579652" w="1579652">
                <a:moveTo>
                  <a:pt x="0" y="0"/>
                </a:moveTo>
                <a:lnTo>
                  <a:pt x="1579652" y="0"/>
                </a:lnTo>
                <a:lnTo>
                  <a:pt x="1579652" y="1579652"/>
                </a:lnTo>
                <a:lnTo>
                  <a:pt x="0" y="157965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</p:spTree>
  </p:cSld>
  <p:clrMapOvr>
    <a:masterClrMapping/>
  </p:clrMapOvr>
  <p:transition spd="slow">
    <p:fade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2A2A">
                <a:alpha val="100000"/>
              </a:srgbClr>
            </a:gs>
            <a:gs pos="100000">
              <a:srgbClr val="005959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650346" y="0"/>
            <a:ext cx="30938346" cy="10287000"/>
          </a:xfrm>
          <a:custGeom>
            <a:avLst/>
            <a:gdLst/>
            <a:ahLst/>
            <a:cxnLst/>
            <a:rect r="r" b="b" t="t" l="l"/>
            <a:pathLst>
              <a:path h="10287000" w="30938346">
                <a:moveTo>
                  <a:pt x="0" y="0"/>
                </a:moveTo>
                <a:lnTo>
                  <a:pt x="30938346" y="0"/>
                </a:lnTo>
                <a:lnTo>
                  <a:pt x="3093834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"/>
            </a:blip>
            <a:stretch>
              <a:fillRect l="0" t="0" r="0" b="0"/>
            </a:stretch>
          </a:blipFill>
        </p:spPr>
        <p:txBody>
          <a:bodyPr/>
          <a:p>
            <a:pPr>
              <a:defRPr sz="1800"/>
            </a:pPr>
            <a:r>
              <a:t>• Multi-Agent: Coordinating fleets of debris removal spacecraft.</a:t>
            </a:r>
          </a:p>
          <a:p>
            <a:pPr>
              <a:defRPr sz="1800"/>
            </a:pPr>
            <a:r>
              <a:t>• Real-time: Live API integration with Space-Track and ESA catalogs.</a:t>
            </a:r>
          </a:p>
          <a:p>
            <a:pPr>
              <a:defRPr sz="1800"/>
            </a:pPr>
            <a:r>
              <a:t>• Transferable: Adaptable to GEO and MEO orbital regimes.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423766" y="2469703"/>
            <a:ext cx="12958825" cy="989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470"/>
              </a:lnSpc>
            </a:pPr>
            <a:r>
              <a:rPr lang="en-US" sz="7470" b="true">
                <a:solidFill>
                  <a:srgbClr val="70E6D2"/>
                </a:solidFill>
                <a:latin typeface="Titillium Web Bold"/>
                <a:ea typeface="Titillium Web Bold"/>
                <a:cs typeface="Titillium Web Bold"/>
                <a:sym typeface="Titillium Web Bold"/>
              </a:rPr>
              <a:t>Scalability &amp; Future Work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028700" y="597983"/>
            <a:ext cx="1794252" cy="596589"/>
          </a:xfrm>
          <a:custGeom>
            <a:avLst/>
            <a:gdLst/>
            <a:ahLst/>
            <a:cxnLst/>
            <a:rect r="r" b="b" t="t" l="l"/>
            <a:pathLst>
              <a:path h="596589" w="1794252">
                <a:moveTo>
                  <a:pt x="0" y="0"/>
                </a:moveTo>
                <a:lnTo>
                  <a:pt x="1794252" y="0"/>
                </a:lnTo>
                <a:lnTo>
                  <a:pt x="1794252" y="596588"/>
                </a:lnTo>
                <a:lnTo>
                  <a:pt x="0" y="5965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4282534" y="698500"/>
            <a:ext cx="2976766" cy="641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99"/>
              </a:lnSpc>
            </a:pPr>
            <a:r>
              <a:rPr lang="en-US" b="true" sz="1999" spc="-39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IEEE AESS Sustainabilty</a:t>
            </a:r>
          </a:p>
          <a:p>
            <a:pPr algn="r">
              <a:lnSpc>
                <a:spcPts val="2599"/>
              </a:lnSpc>
            </a:pPr>
            <a:r>
              <a:rPr lang="en-US" b="true" sz="1999" spc="-39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Hackathon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457821" y="4446542"/>
            <a:ext cx="12457365" cy="3233905"/>
            <a:chOff x="0" y="0"/>
            <a:chExt cx="16609820" cy="4311873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0"/>
              <a:ext cx="16609820" cy="4311873"/>
              <a:chOff x="0" y="0"/>
              <a:chExt cx="1791344" cy="465029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1791344" cy="465029"/>
              </a:xfrm>
              <a:custGeom>
                <a:avLst/>
                <a:gdLst/>
                <a:ahLst/>
                <a:cxnLst/>
                <a:rect r="r" b="b" t="t" l="l"/>
                <a:pathLst>
                  <a:path h="465029" w="1791344">
                    <a:moveTo>
                      <a:pt x="57982" y="0"/>
                    </a:moveTo>
                    <a:lnTo>
                      <a:pt x="1733362" y="0"/>
                    </a:lnTo>
                    <a:cubicBezTo>
                      <a:pt x="1748740" y="0"/>
                      <a:pt x="1763488" y="6109"/>
                      <a:pt x="1774361" y="16982"/>
                    </a:cubicBezTo>
                    <a:cubicBezTo>
                      <a:pt x="1785235" y="27856"/>
                      <a:pt x="1791344" y="42604"/>
                      <a:pt x="1791344" y="57982"/>
                    </a:cubicBezTo>
                    <a:lnTo>
                      <a:pt x="1791344" y="407047"/>
                    </a:lnTo>
                    <a:cubicBezTo>
                      <a:pt x="1791344" y="422425"/>
                      <a:pt x="1785235" y="437173"/>
                      <a:pt x="1774361" y="448046"/>
                    </a:cubicBezTo>
                    <a:cubicBezTo>
                      <a:pt x="1763488" y="458920"/>
                      <a:pt x="1748740" y="465029"/>
                      <a:pt x="1733362" y="465029"/>
                    </a:cubicBezTo>
                    <a:lnTo>
                      <a:pt x="57982" y="465029"/>
                    </a:lnTo>
                    <a:cubicBezTo>
                      <a:pt x="42604" y="465029"/>
                      <a:pt x="27856" y="458920"/>
                      <a:pt x="16982" y="448046"/>
                    </a:cubicBezTo>
                    <a:cubicBezTo>
                      <a:pt x="6109" y="437173"/>
                      <a:pt x="0" y="422425"/>
                      <a:pt x="0" y="407047"/>
                    </a:cubicBezTo>
                    <a:lnTo>
                      <a:pt x="0" y="57982"/>
                    </a:lnTo>
                    <a:cubicBezTo>
                      <a:pt x="0" y="42604"/>
                      <a:pt x="6109" y="27856"/>
                      <a:pt x="16982" y="16982"/>
                    </a:cubicBezTo>
                    <a:cubicBezTo>
                      <a:pt x="27856" y="6109"/>
                      <a:pt x="42604" y="0"/>
                      <a:pt x="5798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rnd">
                <a:solidFill>
                  <a:srgbClr val="0E9C79"/>
                </a:solidFill>
                <a:prstDash val="solid"/>
                <a:round/>
              </a:ln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47625"/>
                <a:ext cx="1791344" cy="41740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134"/>
                  </a:lnSpc>
                </a:pPr>
              </a:p>
            </p:txBody>
          </p:sp>
        </p:grpSp>
        <p:sp>
          <p:nvSpPr>
            <p:cNvPr name="TextBox 10" id="10"/>
            <p:cNvSpPr txBox="true"/>
            <p:nvPr/>
          </p:nvSpPr>
          <p:spPr>
            <a:xfrm rot="0">
              <a:off x="757874" y="838197"/>
              <a:ext cx="15851946" cy="289829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704736" indent="-352368" lvl="1">
                <a:lnSpc>
                  <a:spcPts val="4569"/>
                </a:lnSpc>
                <a:buFont typeface="Arial"/>
                <a:buChar char="•"/>
              </a:pPr>
              <a:r>
                <a:rPr lang="en-US" b="true" sz="3264">
                  <a:solidFill>
                    <a:srgbClr val="0E9C79"/>
                  </a:solidFill>
                  <a:latin typeface="Open Sauce Heavy"/>
                  <a:ea typeface="Open Sauce Heavy"/>
                  <a:cs typeface="Open Sauce Heavy"/>
                  <a:sym typeface="Open Sauce Heavy"/>
                </a:rPr>
                <a:t>How can this grow beyond the hackathon?</a:t>
              </a:r>
            </a:p>
            <a:p>
              <a:pPr algn="l" marL="704736" indent="-352368" lvl="1">
                <a:lnSpc>
                  <a:spcPts val="4569"/>
                </a:lnSpc>
                <a:buFont typeface="Arial"/>
                <a:buChar char="•"/>
              </a:pPr>
              <a:r>
                <a:rPr lang="en-US" b="true" sz="3264">
                  <a:solidFill>
                    <a:srgbClr val="0E9C79"/>
                  </a:solidFill>
                  <a:latin typeface="Open Sauce Heavy"/>
                  <a:ea typeface="Open Sauce Heavy"/>
                  <a:cs typeface="Open Sauce Heavy"/>
                  <a:sym typeface="Open Sauce Heavy"/>
                </a:rPr>
                <a:t>Real-world deployment ideas</a:t>
              </a:r>
            </a:p>
            <a:p>
              <a:pPr algn="l" marL="704736" indent="-352368" lvl="1">
                <a:lnSpc>
                  <a:spcPts val="4569"/>
                </a:lnSpc>
                <a:buFont typeface="Arial"/>
                <a:buChar char="•"/>
              </a:pPr>
              <a:r>
                <a:rPr lang="en-US" b="true" sz="3264">
                  <a:solidFill>
                    <a:srgbClr val="0E9C79"/>
                  </a:solidFill>
                  <a:latin typeface="Open Sauce Heavy"/>
                  <a:ea typeface="Open Sauce Heavy"/>
                  <a:cs typeface="Open Sauce Heavy"/>
                  <a:sym typeface="Open Sauce Heavy"/>
                </a:rPr>
                <a:t>Improvements you would add with more time</a:t>
              </a:r>
            </a:p>
            <a:p>
              <a:pPr algn="l">
                <a:lnSpc>
                  <a:spcPts val="386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8520766" y="460313"/>
            <a:ext cx="3581729" cy="749827"/>
          </a:xfrm>
          <a:custGeom>
            <a:avLst/>
            <a:gdLst/>
            <a:ahLst/>
            <a:cxnLst/>
            <a:rect r="r" b="b" t="t" l="l"/>
            <a:pathLst>
              <a:path h="749827" w="3581729">
                <a:moveTo>
                  <a:pt x="0" y="0"/>
                </a:moveTo>
                <a:lnTo>
                  <a:pt x="3581729" y="0"/>
                </a:lnTo>
                <a:lnTo>
                  <a:pt x="3581729" y="749827"/>
                </a:lnTo>
                <a:lnTo>
                  <a:pt x="0" y="74982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6537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7133567" y="381546"/>
            <a:ext cx="1262988" cy="907361"/>
          </a:xfrm>
          <a:custGeom>
            <a:avLst/>
            <a:gdLst/>
            <a:ahLst/>
            <a:cxnLst/>
            <a:rect r="r" b="b" t="t" l="l"/>
            <a:pathLst>
              <a:path h="907361" w="1262988">
                <a:moveTo>
                  <a:pt x="0" y="0"/>
                </a:moveTo>
                <a:lnTo>
                  <a:pt x="1262988" y="0"/>
                </a:lnTo>
                <a:lnTo>
                  <a:pt x="1262988" y="907361"/>
                </a:lnTo>
                <a:lnTo>
                  <a:pt x="0" y="9073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9861" t="-90941" r="-55948" b="-95532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5632428" y="0"/>
            <a:ext cx="1579652" cy="1579652"/>
          </a:xfrm>
          <a:custGeom>
            <a:avLst/>
            <a:gdLst/>
            <a:ahLst/>
            <a:cxnLst/>
            <a:rect r="r" b="b" t="t" l="l"/>
            <a:pathLst>
              <a:path h="1579652" w="1579652">
                <a:moveTo>
                  <a:pt x="0" y="0"/>
                </a:moveTo>
                <a:lnTo>
                  <a:pt x="1579652" y="0"/>
                </a:lnTo>
                <a:lnTo>
                  <a:pt x="1579652" y="1579652"/>
                </a:lnTo>
                <a:lnTo>
                  <a:pt x="0" y="15796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9723642" y="6947460"/>
            <a:ext cx="8743570" cy="5825403"/>
          </a:xfrm>
          <a:custGeom>
            <a:avLst/>
            <a:gdLst/>
            <a:ahLst/>
            <a:cxnLst/>
            <a:rect r="r" b="b" t="t" l="l"/>
            <a:pathLst>
              <a:path h="5825403" w="8743570">
                <a:moveTo>
                  <a:pt x="0" y="0"/>
                </a:moveTo>
                <a:lnTo>
                  <a:pt x="8743570" y="0"/>
                </a:lnTo>
                <a:lnTo>
                  <a:pt x="8743570" y="5825403"/>
                </a:lnTo>
                <a:lnTo>
                  <a:pt x="0" y="582540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</p:spTree>
  </p:cSld>
  <p:clrMapOvr>
    <a:masterClrMapping/>
  </p:clrMapOvr>
  <p:transition spd="slow">
    <p:fade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2A2A">
                <a:alpha val="100000"/>
              </a:srgbClr>
            </a:gs>
            <a:gs pos="100000">
              <a:srgbClr val="005959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650346" y="0"/>
            <a:ext cx="30938346" cy="10287000"/>
          </a:xfrm>
          <a:custGeom>
            <a:avLst/>
            <a:gdLst/>
            <a:ahLst/>
            <a:cxnLst/>
            <a:rect r="r" b="b" t="t" l="l"/>
            <a:pathLst>
              <a:path h="10287000" w="30938346">
                <a:moveTo>
                  <a:pt x="0" y="0"/>
                </a:moveTo>
                <a:lnTo>
                  <a:pt x="30938346" y="0"/>
                </a:lnTo>
                <a:lnTo>
                  <a:pt x="3093834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"/>
            </a:blip>
            <a:stretch>
              <a:fillRect l="0" t="0" r="0" b="0"/>
            </a:stretch>
          </a:blipFill>
        </p:spPr>
        <p:txBody>
          <a:bodyPr/>
          <a:p>
            <a:pPr>
              <a:defRPr sz="1800"/>
            </a:pPr>
            <a:r>
              <a:t>• Fidelity: Bridging 2D training to high-precision 3D environments.</a:t>
            </a:r>
          </a:p>
          <a:p>
            <a:pPr>
              <a:defRPr sz="1800"/>
            </a:pPr>
            <a:r>
              <a:t>• Sensor Noise: Modeling uncertainty in debris tracking data.</a:t>
            </a:r>
          </a:p>
          <a:p>
            <a:pPr>
              <a:defRPr sz="1800"/>
            </a:pPr>
            <a:r>
              <a:t>• Dynamics: Incorporating orbital perturbations (Drag, J2 effect).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423766" y="2469703"/>
            <a:ext cx="12958825" cy="989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470"/>
              </a:lnSpc>
            </a:pPr>
            <a:r>
              <a:rPr lang="en-US" sz="7470" b="true">
                <a:solidFill>
                  <a:srgbClr val="70E6D2"/>
                </a:solidFill>
                <a:latin typeface="Titillium Web Bold"/>
                <a:ea typeface="Titillium Web Bold"/>
                <a:cs typeface="Titillium Web Bold"/>
                <a:sym typeface="Titillium Web Bold"/>
              </a:rPr>
              <a:t>Challenges &amp; Limitations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028700" y="597983"/>
            <a:ext cx="1794252" cy="596589"/>
          </a:xfrm>
          <a:custGeom>
            <a:avLst/>
            <a:gdLst/>
            <a:ahLst/>
            <a:cxnLst/>
            <a:rect r="r" b="b" t="t" l="l"/>
            <a:pathLst>
              <a:path h="596589" w="1794252">
                <a:moveTo>
                  <a:pt x="0" y="0"/>
                </a:moveTo>
                <a:lnTo>
                  <a:pt x="1794252" y="0"/>
                </a:lnTo>
                <a:lnTo>
                  <a:pt x="1794252" y="596588"/>
                </a:lnTo>
                <a:lnTo>
                  <a:pt x="0" y="5965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4282534" y="698500"/>
            <a:ext cx="2976766" cy="641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99"/>
              </a:lnSpc>
            </a:pPr>
            <a:r>
              <a:rPr lang="en-US" b="true" sz="1999" spc="-39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IEEE AESS Sustainabilty</a:t>
            </a:r>
          </a:p>
          <a:p>
            <a:pPr algn="r">
              <a:lnSpc>
                <a:spcPts val="2599"/>
              </a:lnSpc>
            </a:pPr>
            <a:r>
              <a:rPr lang="en-US" b="true" sz="1999" spc="-39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Hackathon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457821" y="4446542"/>
            <a:ext cx="12457365" cy="2662405"/>
            <a:chOff x="0" y="0"/>
            <a:chExt cx="16609820" cy="3549873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0"/>
              <a:ext cx="16609820" cy="3549873"/>
              <a:chOff x="0" y="0"/>
              <a:chExt cx="1791344" cy="382848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1791344" cy="382848"/>
              </a:xfrm>
              <a:custGeom>
                <a:avLst/>
                <a:gdLst/>
                <a:ahLst/>
                <a:cxnLst/>
                <a:rect r="r" b="b" t="t" l="l"/>
                <a:pathLst>
                  <a:path h="382848" w="1791344">
                    <a:moveTo>
                      <a:pt x="57982" y="0"/>
                    </a:moveTo>
                    <a:lnTo>
                      <a:pt x="1733362" y="0"/>
                    </a:lnTo>
                    <a:cubicBezTo>
                      <a:pt x="1748740" y="0"/>
                      <a:pt x="1763488" y="6109"/>
                      <a:pt x="1774361" y="16982"/>
                    </a:cubicBezTo>
                    <a:cubicBezTo>
                      <a:pt x="1785235" y="27856"/>
                      <a:pt x="1791344" y="42604"/>
                      <a:pt x="1791344" y="57982"/>
                    </a:cubicBezTo>
                    <a:lnTo>
                      <a:pt x="1791344" y="324867"/>
                    </a:lnTo>
                    <a:cubicBezTo>
                      <a:pt x="1791344" y="340244"/>
                      <a:pt x="1785235" y="354992"/>
                      <a:pt x="1774361" y="365866"/>
                    </a:cubicBezTo>
                    <a:cubicBezTo>
                      <a:pt x="1763488" y="376740"/>
                      <a:pt x="1748740" y="382848"/>
                      <a:pt x="1733362" y="382848"/>
                    </a:cubicBezTo>
                    <a:lnTo>
                      <a:pt x="57982" y="382848"/>
                    </a:lnTo>
                    <a:cubicBezTo>
                      <a:pt x="42604" y="382848"/>
                      <a:pt x="27856" y="376740"/>
                      <a:pt x="16982" y="365866"/>
                    </a:cubicBezTo>
                    <a:cubicBezTo>
                      <a:pt x="6109" y="354992"/>
                      <a:pt x="0" y="340244"/>
                      <a:pt x="0" y="324867"/>
                    </a:cubicBezTo>
                    <a:lnTo>
                      <a:pt x="0" y="57982"/>
                    </a:lnTo>
                    <a:cubicBezTo>
                      <a:pt x="0" y="42604"/>
                      <a:pt x="6109" y="27856"/>
                      <a:pt x="16982" y="16982"/>
                    </a:cubicBezTo>
                    <a:cubicBezTo>
                      <a:pt x="27856" y="6109"/>
                      <a:pt x="42604" y="0"/>
                      <a:pt x="5798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rnd">
                <a:solidFill>
                  <a:srgbClr val="0E9C79"/>
                </a:solidFill>
                <a:prstDash val="solid"/>
                <a:round/>
              </a:ln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47625"/>
                <a:ext cx="1791344" cy="33522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134"/>
                  </a:lnSpc>
                </a:pPr>
              </a:p>
            </p:txBody>
          </p:sp>
        </p:grpSp>
        <p:sp>
          <p:nvSpPr>
            <p:cNvPr name="TextBox 10" id="10"/>
            <p:cNvSpPr txBox="true"/>
            <p:nvPr/>
          </p:nvSpPr>
          <p:spPr>
            <a:xfrm rot="0">
              <a:off x="757874" y="838197"/>
              <a:ext cx="15851946" cy="213629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704736" indent="-352368" lvl="1">
                <a:lnSpc>
                  <a:spcPts val="4569"/>
                </a:lnSpc>
                <a:buFont typeface="Arial"/>
                <a:buChar char="•"/>
              </a:pPr>
              <a:r>
                <a:rPr lang="en-US" b="true" sz="3264">
                  <a:solidFill>
                    <a:srgbClr val="0E9C79"/>
                  </a:solidFill>
                  <a:latin typeface="Open Sauce Heavy"/>
                  <a:ea typeface="Open Sauce Heavy"/>
                  <a:cs typeface="Open Sauce Heavy"/>
                  <a:sym typeface="Open Sauce Heavy"/>
                </a:rPr>
                <a:t>What problems did you face?</a:t>
              </a:r>
            </a:p>
            <a:p>
              <a:pPr algn="l" marL="704736" indent="-352368" lvl="1">
                <a:lnSpc>
                  <a:spcPts val="4569"/>
                </a:lnSpc>
                <a:buFont typeface="Arial"/>
                <a:buChar char="•"/>
              </a:pPr>
              <a:r>
                <a:rPr lang="en-US" b="true" sz="3264">
                  <a:solidFill>
                    <a:srgbClr val="0E9C79"/>
                  </a:solidFill>
                  <a:latin typeface="Open Sauce Heavy"/>
                  <a:ea typeface="Open Sauce Heavy"/>
                  <a:cs typeface="Open Sauce Heavy"/>
                  <a:sym typeface="Open Sauce Heavy"/>
                </a:rPr>
                <a:t>Wh</a:t>
              </a:r>
              <a:r>
                <a:rPr lang="en-US" b="true" sz="3264">
                  <a:solidFill>
                    <a:srgbClr val="0E9C79"/>
                  </a:solidFill>
                  <a:latin typeface="Open Sauce Heavy"/>
                  <a:ea typeface="Open Sauce Heavy"/>
                  <a:cs typeface="Open Sauce Heavy"/>
                  <a:sym typeface="Open Sauce Heavy"/>
                </a:rPr>
                <a:t>at is currently not solved yet?</a:t>
              </a:r>
            </a:p>
            <a:p>
              <a:pPr algn="l">
                <a:lnSpc>
                  <a:spcPts val="386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8520766" y="460313"/>
            <a:ext cx="3581729" cy="749827"/>
          </a:xfrm>
          <a:custGeom>
            <a:avLst/>
            <a:gdLst/>
            <a:ahLst/>
            <a:cxnLst/>
            <a:rect r="r" b="b" t="t" l="l"/>
            <a:pathLst>
              <a:path h="749827" w="3581729">
                <a:moveTo>
                  <a:pt x="0" y="0"/>
                </a:moveTo>
                <a:lnTo>
                  <a:pt x="3581729" y="0"/>
                </a:lnTo>
                <a:lnTo>
                  <a:pt x="3581729" y="749827"/>
                </a:lnTo>
                <a:lnTo>
                  <a:pt x="0" y="74982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6537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7133567" y="381546"/>
            <a:ext cx="1262988" cy="907361"/>
          </a:xfrm>
          <a:custGeom>
            <a:avLst/>
            <a:gdLst/>
            <a:ahLst/>
            <a:cxnLst/>
            <a:rect r="r" b="b" t="t" l="l"/>
            <a:pathLst>
              <a:path h="907361" w="1262988">
                <a:moveTo>
                  <a:pt x="0" y="0"/>
                </a:moveTo>
                <a:lnTo>
                  <a:pt x="1262988" y="0"/>
                </a:lnTo>
                <a:lnTo>
                  <a:pt x="1262988" y="907361"/>
                </a:lnTo>
                <a:lnTo>
                  <a:pt x="0" y="9073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9861" t="-90941" r="-55948" b="-95532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5632428" y="0"/>
            <a:ext cx="1579652" cy="1579652"/>
          </a:xfrm>
          <a:custGeom>
            <a:avLst/>
            <a:gdLst/>
            <a:ahLst/>
            <a:cxnLst/>
            <a:rect r="r" b="b" t="t" l="l"/>
            <a:pathLst>
              <a:path h="1579652" w="1579652">
                <a:moveTo>
                  <a:pt x="0" y="0"/>
                </a:moveTo>
                <a:lnTo>
                  <a:pt x="1579652" y="0"/>
                </a:lnTo>
                <a:lnTo>
                  <a:pt x="1579652" y="1579652"/>
                </a:lnTo>
                <a:lnTo>
                  <a:pt x="0" y="15796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-5044121" y="2326828"/>
            <a:ext cx="8743570" cy="5825403"/>
          </a:xfrm>
          <a:custGeom>
            <a:avLst/>
            <a:gdLst/>
            <a:ahLst/>
            <a:cxnLst/>
            <a:rect r="r" b="b" t="t" l="l"/>
            <a:pathLst>
              <a:path h="5825403" w="8743570">
                <a:moveTo>
                  <a:pt x="0" y="0"/>
                </a:moveTo>
                <a:lnTo>
                  <a:pt x="8743569" y="0"/>
                </a:lnTo>
                <a:lnTo>
                  <a:pt x="8743569" y="5825403"/>
                </a:lnTo>
                <a:lnTo>
                  <a:pt x="0" y="582540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</p:spTree>
  </p:cSld>
  <p:clrMapOvr>
    <a:masterClrMapping/>
  </p:clrMapOvr>
  <p:transition spd="slow">
    <p:fade/>
  </p:transition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002A2A">
                <a:alpha val="100000"/>
              </a:srgbClr>
            </a:gs>
            <a:gs pos="100000">
              <a:srgbClr val="005959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650346" y="0"/>
            <a:ext cx="30938346" cy="10287000"/>
          </a:xfrm>
          <a:custGeom>
            <a:avLst/>
            <a:gdLst/>
            <a:ahLst/>
            <a:cxnLst/>
            <a:rect r="r" b="b" t="t" l="l"/>
            <a:pathLst>
              <a:path h="10287000" w="30938346">
                <a:moveTo>
                  <a:pt x="0" y="0"/>
                </a:moveTo>
                <a:lnTo>
                  <a:pt x="30938346" y="0"/>
                </a:lnTo>
                <a:lnTo>
                  <a:pt x="3093834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"/>
            </a:blip>
            <a:stretch>
              <a:fillRect l="0" t="0" r="0" b="0"/>
            </a:stretch>
          </a:blipFill>
        </p:spPr>
        <p:txBody>
          <a:bodyPr/>
          <a:p>
            <a:pPr>
              <a:defRPr sz="1800"/>
            </a:pPr>
            <a:r>
              <a:t>• Validated: Proof-of-concept for AI-driven orbital sustainability.</a:t>
            </a:r>
          </a:p>
          <a:p>
            <a:pPr>
              <a:defRPr sz="1800"/>
            </a:pPr>
            <a:r>
              <a:t>• Efficient: Significant fuel savings via autonomous planning.</a:t>
            </a:r>
          </a:p>
          <a:p>
            <a:pPr>
              <a:defRPr sz="1800"/>
            </a:pPr>
            <a:r>
              <a:t>• Ready: Structure and code prepared for Phase 2 scaling.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423766" y="2469703"/>
            <a:ext cx="12958825" cy="989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470"/>
              </a:lnSpc>
            </a:pPr>
            <a:r>
              <a:rPr lang="en-US" sz="7470" b="true">
                <a:solidFill>
                  <a:srgbClr val="70E6D2"/>
                </a:solidFill>
                <a:latin typeface="Titillium Web Bold"/>
                <a:ea typeface="Titillium Web Bold"/>
                <a:cs typeface="Titillium Web Bold"/>
                <a:sym typeface="Titillium Web Bold"/>
              </a:rPr>
              <a:t>Conclusion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028700" y="597983"/>
            <a:ext cx="1794252" cy="596589"/>
          </a:xfrm>
          <a:custGeom>
            <a:avLst/>
            <a:gdLst/>
            <a:ahLst/>
            <a:cxnLst/>
            <a:rect r="r" b="b" t="t" l="l"/>
            <a:pathLst>
              <a:path h="596589" w="1794252">
                <a:moveTo>
                  <a:pt x="0" y="0"/>
                </a:moveTo>
                <a:lnTo>
                  <a:pt x="1794252" y="0"/>
                </a:lnTo>
                <a:lnTo>
                  <a:pt x="1794252" y="596588"/>
                </a:lnTo>
                <a:lnTo>
                  <a:pt x="0" y="5965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4282534" y="698500"/>
            <a:ext cx="2976766" cy="641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599"/>
              </a:lnSpc>
            </a:pPr>
            <a:r>
              <a:rPr lang="en-US" b="true" sz="1999" spc="-39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IEEE AESS Sustainabilty</a:t>
            </a:r>
          </a:p>
          <a:p>
            <a:pPr algn="r">
              <a:lnSpc>
                <a:spcPts val="2599"/>
              </a:lnSpc>
            </a:pPr>
            <a:r>
              <a:rPr lang="en-US" b="true" sz="1999" spc="-39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Hackathon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457821" y="4446542"/>
            <a:ext cx="12457365" cy="1648310"/>
            <a:chOff x="0" y="0"/>
            <a:chExt cx="16609820" cy="2197747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0"/>
              <a:ext cx="16609820" cy="2197747"/>
              <a:chOff x="0" y="0"/>
              <a:chExt cx="1791344" cy="237024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1791344" cy="237024"/>
              </a:xfrm>
              <a:custGeom>
                <a:avLst/>
                <a:gdLst/>
                <a:ahLst/>
                <a:cxnLst/>
                <a:rect r="r" b="b" t="t" l="l"/>
                <a:pathLst>
                  <a:path h="237024" w="1791344">
                    <a:moveTo>
                      <a:pt x="57982" y="0"/>
                    </a:moveTo>
                    <a:lnTo>
                      <a:pt x="1733362" y="0"/>
                    </a:lnTo>
                    <a:cubicBezTo>
                      <a:pt x="1748740" y="0"/>
                      <a:pt x="1763488" y="6109"/>
                      <a:pt x="1774361" y="16982"/>
                    </a:cubicBezTo>
                    <a:cubicBezTo>
                      <a:pt x="1785235" y="27856"/>
                      <a:pt x="1791344" y="42604"/>
                      <a:pt x="1791344" y="57982"/>
                    </a:cubicBezTo>
                    <a:lnTo>
                      <a:pt x="1791344" y="179042"/>
                    </a:lnTo>
                    <a:cubicBezTo>
                      <a:pt x="1791344" y="194420"/>
                      <a:pt x="1785235" y="209167"/>
                      <a:pt x="1774361" y="220041"/>
                    </a:cubicBezTo>
                    <a:cubicBezTo>
                      <a:pt x="1763488" y="230915"/>
                      <a:pt x="1748740" y="237024"/>
                      <a:pt x="1733362" y="237024"/>
                    </a:cubicBezTo>
                    <a:lnTo>
                      <a:pt x="57982" y="237024"/>
                    </a:lnTo>
                    <a:cubicBezTo>
                      <a:pt x="42604" y="237024"/>
                      <a:pt x="27856" y="230915"/>
                      <a:pt x="16982" y="220041"/>
                    </a:cubicBezTo>
                    <a:cubicBezTo>
                      <a:pt x="6109" y="209167"/>
                      <a:pt x="0" y="194420"/>
                      <a:pt x="0" y="179042"/>
                    </a:cubicBezTo>
                    <a:lnTo>
                      <a:pt x="0" y="57982"/>
                    </a:lnTo>
                    <a:cubicBezTo>
                      <a:pt x="0" y="42604"/>
                      <a:pt x="6109" y="27856"/>
                      <a:pt x="16982" y="16982"/>
                    </a:cubicBezTo>
                    <a:cubicBezTo>
                      <a:pt x="27856" y="6109"/>
                      <a:pt x="42604" y="0"/>
                      <a:pt x="5798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 cap="rnd">
                <a:solidFill>
                  <a:srgbClr val="0E9C79"/>
                </a:solidFill>
                <a:prstDash val="solid"/>
                <a:round/>
              </a:ln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47625"/>
                <a:ext cx="1791344" cy="18939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134"/>
                  </a:lnSpc>
                </a:pPr>
              </a:p>
            </p:txBody>
          </p:sp>
        </p:grpSp>
        <p:sp>
          <p:nvSpPr>
            <p:cNvPr name="TextBox 10" id="10"/>
            <p:cNvSpPr txBox="true"/>
            <p:nvPr/>
          </p:nvSpPr>
          <p:spPr>
            <a:xfrm rot="0">
              <a:off x="757874" y="673452"/>
              <a:ext cx="15851946" cy="78416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989"/>
                </a:lnSpc>
              </a:pPr>
              <a:r>
                <a:rPr lang="en-US" sz="3564" b="true">
                  <a:solidFill>
                    <a:srgbClr val="0E9C79"/>
                  </a:solidFill>
                  <a:latin typeface="Open Sauce Heavy"/>
                  <a:ea typeface="Open Sauce Heavy"/>
                  <a:cs typeface="Open Sauce Heavy"/>
                  <a:sym typeface="Open Sauce Heavy"/>
                </a:rPr>
                <a:t>1–2 sentence summary of your solution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8520766" y="460313"/>
            <a:ext cx="3581729" cy="749827"/>
          </a:xfrm>
          <a:custGeom>
            <a:avLst/>
            <a:gdLst/>
            <a:ahLst/>
            <a:cxnLst/>
            <a:rect r="r" b="b" t="t" l="l"/>
            <a:pathLst>
              <a:path h="749827" w="3581729">
                <a:moveTo>
                  <a:pt x="0" y="0"/>
                </a:moveTo>
                <a:lnTo>
                  <a:pt x="3581729" y="0"/>
                </a:lnTo>
                <a:lnTo>
                  <a:pt x="3581729" y="749827"/>
                </a:lnTo>
                <a:lnTo>
                  <a:pt x="0" y="74982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6537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7133567" y="381546"/>
            <a:ext cx="1262988" cy="907361"/>
          </a:xfrm>
          <a:custGeom>
            <a:avLst/>
            <a:gdLst/>
            <a:ahLst/>
            <a:cxnLst/>
            <a:rect r="r" b="b" t="t" l="l"/>
            <a:pathLst>
              <a:path h="907361" w="1262988">
                <a:moveTo>
                  <a:pt x="0" y="0"/>
                </a:moveTo>
                <a:lnTo>
                  <a:pt x="1262988" y="0"/>
                </a:lnTo>
                <a:lnTo>
                  <a:pt x="1262988" y="907361"/>
                </a:lnTo>
                <a:lnTo>
                  <a:pt x="0" y="9073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9861" t="-90941" r="-55948" b="-95532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5632428" y="0"/>
            <a:ext cx="1579652" cy="1579652"/>
          </a:xfrm>
          <a:custGeom>
            <a:avLst/>
            <a:gdLst/>
            <a:ahLst/>
            <a:cxnLst/>
            <a:rect r="r" b="b" t="t" l="l"/>
            <a:pathLst>
              <a:path h="1579652" w="1579652">
                <a:moveTo>
                  <a:pt x="0" y="0"/>
                </a:moveTo>
                <a:lnTo>
                  <a:pt x="1579652" y="0"/>
                </a:lnTo>
                <a:lnTo>
                  <a:pt x="1579652" y="1579652"/>
                </a:lnTo>
                <a:lnTo>
                  <a:pt x="0" y="15796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DAHJGnGjn44</dc:identifier>
  <dcterms:modified xsi:type="dcterms:W3CDTF">2011-08-01T06:04:30Z</dcterms:modified>
  <cp:revision>1</cp:revision>
  <dc:title>Template presentation</dc:title>
</cp:coreProperties>
</file>